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76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gradFill>
            <a:gsLst>
              <a:gs pos="0">
                <a:srgbClr val="0A0F2C"/>
              </a:gs>
              <a:gs pos="50000">
                <a:srgbClr val="0D1B3E"/>
              </a:gs>
              <a:gs pos="100000">
                <a:srgbClr val="0A254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328612"/>
            <a:ext cx="76200" cy="762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3450" y="285750"/>
            <a:ext cx="3718274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FFFFFF"/>
                </a:solidFill>
                <a:latin typeface="Segoe UI"/>
              </a:rPr>
              <a:t>SKT TechIntelligenceReport 2024 · No.12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896100"/>
            <a:ext cx="10668000" cy="381000"/>
          </a:xfrm>
          <a:prstGeom prst="rect">
            <a:avLst/>
          </a:prstGeom>
          <a:noFill/>
          <a:ln w="12700">
            <a:solidFill>
              <a:srgbClr val="FFFFFF">
                <a:alpha val="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7096125"/>
            <a:ext cx="124777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사내 기술 전문가 대상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8836" y="7167562"/>
            <a:ext cx="38100" cy="381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04086" y="7167562"/>
            <a:ext cx="38100" cy="381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99336" y="7167562"/>
            <a:ext cx="38100" cy="38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4965" y="7096125"/>
            <a:ext cx="39052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7660" y="1743223"/>
            <a:ext cx="2072729" cy="400050"/>
          </a:xfrm>
          <a:prstGeom prst="roundRect">
            <a:avLst>
              <a:gd name="adj" fmla="val 35714"/>
            </a:avLst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30000"/>
              </a:srgbClr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00E5FF"/>
                </a:solidFill>
                <a:latin typeface="Segoe UI"/>
              </a:rPr>
              <a:t>In-Depth 기술 스터디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9038" y="2381398"/>
            <a:ext cx="3639788" cy="7143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3900">
                <a:solidFill>
                  <a:srgbClr val="FFFFFF"/>
                </a:solidFill>
                <a:latin typeface="Segoe UI"/>
              </a:rPr>
              <a:t>AI Data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204" y="2975669"/>
            <a:ext cx="4867204" cy="7143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3900">
                <a:solidFill>
                  <a:srgbClr val="00E5FF"/>
                </a:solidFill>
                <a:latin typeface="Segoe UI"/>
              </a:rPr>
              <a:t>(AI DC) 기술 심층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2974" y="3827115"/>
            <a:ext cx="6206831" cy="58281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Segoe UI"/>
              </a:rPr>
              <a:t>AI DC는 단순한 서버실을 넘어 </a:t>
            </a:r>
            <a:r>
              <a:rPr b="1" sz="1400">
                <a:solidFill>
                  <a:srgbClr val="00E5FF"/>
                </a:solidFill>
                <a:latin typeface="Segoe UI"/>
              </a:rPr>
              <a:t>GPU 기반 AI Factory</a:t>
            </a:r>
            <a:r>
              <a:rPr sz="1400">
                <a:solidFill>
                  <a:srgbClr val="FFFFFF"/>
                </a:solidFill>
                <a:latin typeface="Segoe UI"/>
              </a:rPr>
              <a:t>로 진화하고 있으며,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Segoe UI"/>
              </a:rPr>
              <a:t>4대 핵심 기술 요소의 이해가 필수적이다.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2974" y="4867126"/>
            <a:ext cx="1685627" cy="476250"/>
          </a:xfrm>
          <a:prstGeom prst="roundRect">
            <a:avLst>
              <a:gd name="adj" fmla="val 12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21099" y="5076676"/>
            <a:ext cx="57150" cy="571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4300" y="5010001"/>
            <a:ext cx="117157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AI Compute Infra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21001" y="4867126"/>
            <a:ext cx="1106537" cy="476250"/>
          </a:xfrm>
          <a:prstGeom prst="roundRect">
            <a:avLst>
              <a:gd name="adj" fmla="val 12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59126" y="5076676"/>
            <a:ext cx="57150" cy="571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8533" y="5010001"/>
            <a:ext cx="60007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Cooling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9939" y="4867126"/>
            <a:ext cx="1530101" cy="476250"/>
          </a:xfrm>
          <a:prstGeom prst="roundRect">
            <a:avLst>
              <a:gd name="adj" fmla="val 12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18064" y="5076676"/>
            <a:ext cx="57150" cy="571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9702" y="5010001"/>
            <a:ext cx="101917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Energy Supply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2441" y="4867126"/>
            <a:ext cx="1246584" cy="476250"/>
          </a:xfrm>
          <a:prstGeom prst="roundRect">
            <a:avLst>
              <a:gd name="adj" fmla="val 12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0566" y="5076676"/>
            <a:ext cx="57150" cy="5715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3320" y="5010001"/>
            <a:ext cx="73342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운영 / 관제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00075"/>
            <a:ext cx="38100" cy="3048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533400"/>
            <a:ext cx="3855624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400">
                <a:solidFill>
                  <a:srgbClr val="1E293B"/>
                </a:solidFill>
                <a:latin typeface="Segoe UI"/>
              </a:rPr>
              <a:t>AI 시대, 데이터센터의 新정의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066800"/>
            <a:ext cx="11007661" cy="228600"/>
          </a:xfrm>
          <a:prstGeom prst="rect">
            <a:avLst/>
          </a:prstGeom>
          <a:noFill/>
          <a:ln w="25400">
            <a:solidFill>
              <a:srgbClr val="4F46E5">
                <a:alpha val="20000"/>
              </a:srgbClr>
            </a:solidFill>
          </a:ln>
        </p:spPr>
        <p:txBody>
          <a:bodyPr wrap="square" anchor="t" lIns="152400" rIns="0" tIns="0" bIns="0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빅테크 리더들이 재정의하는 AI DC 패러다임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76400"/>
            <a:ext cx="5314950" cy="1681162"/>
          </a:xfrm>
          <a:prstGeom prst="roundRect">
            <a:avLst>
              <a:gd name="adj" fmla="val 4532"/>
            </a:avLst>
          </a:prstGeom>
          <a:gradFill>
            <a:gsLst>
              <a:gs pos="0">
                <a:srgbClr val="0A0F2C"/>
              </a:gs>
              <a:gs pos="100000">
                <a:srgbClr val="0D1B3E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1981200"/>
            <a:ext cx="457200" cy="381000"/>
          </a:xfrm>
          <a:prstGeom prst="ellipse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30000"/>
              </a:srgbClr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/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6850" y="1995487"/>
            <a:ext cx="105727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0E5FF"/>
                </a:solidFill>
                <a:latin typeface="Segoe UI"/>
              </a:rPr>
              <a:t>Jensen Huang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6850" y="2185987"/>
            <a:ext cx="10572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FFFFFF"/>
                </a:solidFill>
                <a:latin typeface="Segoe UI"/>
              </a:rPr>
              <a:t>CEO, Nvidia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552700"/>
            <a:ext cx="4846510" cy="50006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Segoe UI"/>
              </a:rPr>
              <a:t>"데이터센터를 하나의 </a:t>
            </a:r>
            <a:r>
              <a:rPr b="1" sz="1100">
                <a:solidFill>
                  <a:srgbClr val="00E5FF"/>
                </a:solidFill>
                <a:latin typeface="Segoe UI"/>
              </a:rPr>
              <a:t>Super Chip</a:t>
            </a:r>
            <a:r>
              <a:rPr sz="1100">
                <a:solidFill>
                  <a:srgbClr val="FFFFFF"/>
                </a:solidFill>
                <a:latin typeface="Segoe UI"/>
              </a:rPr>
              <a:t>처럼 — Computing 성능 증가는 데이터센터 스케일로 수행"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250" y="1676400"/>
            <a:ext cx="5314950" cy="1681162"/>
          </a:xfrm>
          <a:prstGeom prst="roundRect">
            <a:avLst>
              <a:gd name="adj" fmla="val 4532"/>
            </a:avLst>
          </a:prstGeom>
          <a:gradFill>
            <a:gsLst>
              <a:gs pos="0">
                <a:srgbClr val="0F172A"/>
              </a:gs>
              <a:gs pos="100000">
                <a:srgbClr val="1E1B4B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6050" y="1981200"/>
            <a:ext cx="457200" cy="3810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40000"/>
              </a:srgbClr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2300" y="1995487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818CF8"/>
                </a:solidFill>
                <a:latin typeface="Segoe UI"/>
              </a:rPr>
              <a:t>Satya Nadella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2185987"/>
            <a:ext cx="10287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FFFFFF"/>
                </a:solidFill>
                <a:latin typeface="Segoe UI"/>
              </a:rPr>
              <a:t>CEO, Microsoft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6050" y="2552700"/>
            <a:ext cx="4846510" cy="250031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Segoe UI"/>
              </a:rPr>
              <a:t>"데이터센터는 AI를 생산하는 </a:t>
            </a:r>
            <a:r>
              <a:rPr b="1" sz="1100">
                <a:solidFill>
                  <a:srgbClr val="818CF8"/>
                </a:solidFill>
                <a:latin typeface="Segoe UI"/>
              </a:rPr>
              <a:t>AI Factory</a:t>
            </a:r>
            <a:r>
              <a:rPr sz="1100">
                <a:solidFill>
                  <a:srgbClr val="FFFFFF"/>
                </a:solidFill>
                <a:latin typeface="Segoe UI"/>
              </a:rPr>
              <a:t>로 변하고 있다"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24262"/>
            <a:ext cx="10820400" cy="1288256"/>
          </a:xfrm>
          <a:prstGeom prst="roundRect">
            <a:avLst>
              <a:gd name="adj" fmla="val 5914"/>
            </a:avLst>
          </a:prstGeom>
          <a:gradFill>
            <a:gsLst>
              <a:gs pos="0">
                <a:srgbClr val="F0F9FF"/>
              </a:gs>
              <a:gs pos="100000">
                <a:srgbClr val="EEF2FF"/>
              </a:gs>
            </a:gsLst>
            <a:lin ang="2700000" scaled="0"/>
          </a:gra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125" y="3900487"/>
            <a:ext cx="1028700" cy="419100"/>
          </a:xfrm>
          <a:prstGeom prst="roundRect">
            <a:avLst>
              <a:gd name="adj" fmla="val 11363"/>
            </a:avLst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2700000" scaled="0"/>
          </a:gra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AI DC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2551" y="3900487"/>
            <a:ext cx="5911589" cy="250031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1E293B"/>
                </a:solidFill>
                <a:latin typeface="Segoe UI"/>
              </a:rPr>
              <a:t>AI Workload 전용 데이터센터로, 아래 4가지 핵심 구성요소를 갖춘 차세대 인프라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2551" y="4283868"/>
            <a:ext cx="1515070" cy="352425"/>
          </a:xfrm>
          <a:prstGeom prst="roundRect">
            <a:avLst>
              <a:gd name="adj" fmla="val 27027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4F46E5"/>
                </a:solidFill>
                <a:latin typeface="Segoe UI"/>
              </a:rPr>
              <a:t>🖥 AI Compute Infra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6672" y="4283868"/>
            <a:ext cx="1165324" cy="352425"/>
          </a:xfrm>
          <a:prstGeom prst="roundRect">
            <a:avLst>
              <a:gd name="adj" fmla="val 27027"/>
            </a:avLst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0369A1"/>
                </a:solidFill>
                <a:latin typeface="Segoe UI"/>
              </a:rPr>
              <a:t>❄️ 高효율 냉각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1046" y="4283868"/>
            <a:ext cx="1669405" cy="352425"/>
          </a:xfrm>
          <a:prstGeom prst="roundRect">
            <a:avLst>
              <a:gd name="adj" fmla="val 27027"/>
            </a:avLst>
          </a:prstGeom>
          <a:solidFill>
            <a:srgbClr val="FEF9C3"/>
          </a:solidFill>
          <a:ln w="12700">
            <a:solidFill>
              <a:srgbClr val="FDE047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854D0E"/>
                </a:solidFill>
                <a:latin typeface="Segoe UI"/>
              </a:rPr>
              <a:t>⚡ 超대용량 전력/에너지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9501" y="4283868"/>
            <a:ext cx="1408658" cy="352425"/>
          </a:xfrm>
          <a:prstGeom prst="roundRect">
            <a:avLst>
              <a:gd name="adj" fmla="val 27027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>
                <a:solidFill>
                  <a:srgbClr val="166534"/>
                </a:solidFill>
                <a:latin typeface="Segoe UI"/>
              </a:rPr>
              <a:t>🛡 안정적 운영·관리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79249" y="7229475"/>
            <a:ext cx="2476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CBD5E1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00075"/>
            <a:ext cx="38100" cy="3048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533400"/>
            <a:ext cx="3983164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400">
                <a:solidFill>
                  <a:srgbClr val="1E293B"/>
                </a:solidFill>
                <a:latin typeface="Segoe UI"/>
              </a:rPr>
              <a:t>데이터센터의 세대별 진화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066800"/>
            <a:ext cx="11007661" cy="228600"/>
          </a:xfrm>
          <a:prstGeom prst="rect">
            <a:avLst/>
          </a:prstGeom>
          <a:noFill/>
          <a:ln w="25400">
            <a:solidFill>
              <a:srgbClr val="4F46E5">
                <a:alpha val="20000"/>
              </a:srgbClr>
            </a:solidFill>
          </a:ln>
        </p:spPr>
        <p:txBody>
          <a:bodyPr wrap="square" anchor="t" lIns="152400" rIns="0" tIns="0" bIns="0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Segoe UI"/>
              </a:rPr>
              <a:t>전산실 → IDC → Cloud DC → AI DC · GPU 중심 대규모 병렬연산 인프라로의 전환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209800"/>
            <a:ext cx="10134600" cy="28575"/>
          </a:xfrm>
          <a:prstGeom prst="roundRect">
            <a:avLst>
              <a:gd name="adj" fmla="val 33333"/>
            </a:avLst>
          </a:prstGeom>
          <a:gradFill>
            <a:gsLst>
              <a:gs pos="0">
                <a:srgbClr val="CBD5E1"/>
              </a:gs>
              <a:gs pos="30000">
                <a:srgbClr val="94A3B8"/>
              </a:gs>
              <a:gs pos="65000">
                <a:srgbClr val="0EA5E9"/>
              </a:gs>
              <a:gs pos="100000">
                <a:srgbClr val="4F46E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79249" y="7229475"/>
            <a:ext cx="2476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CBD5E1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4012" y="1714500"/>
            <a:ext cx="762000" cy="685800"/>
          </a:xfrm>
          <a:prstGeom prst="ellipse">
            <a:avLst/>
          </a:prstGeom>
          <a:solidFill>
            <a:srgbClr val="F1F5F9"/>
          </a:solidFill>
          <a:ln w="38100">
            <a:solidFill>
              <a:srgbClr val="CBD5E1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>
                <a:solidFill>
                  <a:srgbClr val="1E293B"/>
                </a:solidFill>
                <a:latin typeface="Segoe UI"/>
              </a:rPr>
              <a:t>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90800"/>
            <a:ext cx="2562225" cy="1729680"/>
          </a:xfrm>
          <a:prstGeom prst="roundRect">
            <a:avLst>
              <a:gd name="adj" fmla="val 385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8293" y="2838450"/>
            <a:ext cx="833288" cy="209550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64748B"/>
                </a:solidFill>
                <a:latin typeface="Segoe UI"/>
              </a:rPr>
              <a:t>① 초기 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14325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1E293B"/>
                </a:solidFill>
                <a:latin typeface="Segoe UI"/>
              </a:rPr>
              <a:t>전산실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3429000"/>
            <a:ext cx="22764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  <a:latin typeface="Segoe UI"/>
              </a:rPr>
              <a:t>'60s ~ '90s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3705225"/>
            <a:ext cx="2276475" cy="3961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메인프레임 기반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금융/대기업 내부 업무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6737" y="1714500"/>
            <a:ext cx="762000" cy="685800"/>
          </a:xfrm>
          <a:prstGeom prst="ellipse">
            <a:avLst/>
          </a:prstGeom>
          <a:solidFill>
            <a:srgbClr val="F0F9FF"/>
          </a:solidFill>
          <a:ln w="38100">
            <a:solidFill>
              <a:srgbClr val="7DD3FC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>
                <a:solidFill>
                  <a:srgbClr val="1E293B"/>
                </a:solidFill>
                <a:latin typeface="Segoe UI"/>
              </a:rPr>
              <a:t>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8525" y="2590800"/>
            <a:ext cx="2562225" cy="1729680"/>
          </a:xfrm>
          <a:prstGeom prst="roundRect">
            <a:avLst>
              <a:gd name="adj" fmla="val 3854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4454" y="2838450"/>
            <a:ext cx="626566" cy="209550"/>
          </a:xfrm>
          <a:prstGeom prst="roundRect">
            <a:avLst>
              <a:gd name="adj" fmla="val 22727"/>
            </a:avLst>
          </a:prstGeom>
          <a:solidFill>
            <a:srgbClr val="BAE6FD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0369A1"/>
                </a:solidFill>
                <a:latin typeface="Segoe UI"/>
              </a:rPr>
              <a:t>② IDC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0" y="314325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1E293B"/>
                </a:solidFill>
                <a:latin typeface="Segoe UI"/>
              </a:rPr>
              <a:t>인터넷 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3429000"/>
            <a:ext cx="22764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>
                <a:solidFill>
                  <a:srgbClr val="0EA5E9"/>
                </a:solidFill>
                <a:latin typeface="Segoe UI"/>
              </a:rPr>
              <a:t>'90s ~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0" y="3705225"/>
            <a:ext cx="2276475" cy="3961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인터넷 연결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웹호스팅/e-commerce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9462" y="1714500"/>
            <a:ext cx="762000" cy="685800"/>
          </a:xfrm>
          <a:prstGeom prst="ellipse">
            <a:avLst/>
          </a:prstGeom>
          <a:solidFill>
            <a:srgbClr val="EEF2FF"/>
          </a:solidFill>
          <a:ln w="38100">
            <a:solidFill>
              <a:srgbClr val="A5B4FC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>
                <a:solidFill>
                  <a:srgbClr val="1E293B"/>
                </a:solidFill>
                <a:latin typeface="Segoe UI"/>
              </a:rPr>
              <a:t>☁️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1250" y="2590800"/>
            <a:ext cx="2562225" cy="1729680"/>
          </a:xfrm>
          <a:prstGeom prst="roundRect">
            <a:avLst>
              <a:gd name="adj" fmla="val 3854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5133" y="2838450"/>
            <a:ext cx="970508" cy="209550"/>
          </a:xfrm>
          <a:prstGeom prst="roundRect">
            <a:avLst>
              <a:gd name="adj" fmla="val 22727"/>
            </a:avLst>
          </a:prstGeom>
          <a:solidFill>
            <a:srgbClr val="C7D2FE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4338CA"/>
                </a:solidFill>
                <a:latin typeface="Segoe UI"/>
              </a:rPr>
              <a:t>③ Cloud DC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3143250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1E293B"/>
                </a:solidFill>
                <a:latin typeface="Segoe UI"/>
              </a:rPr>
              <a:t>클라우드 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3429000"/>
            <a:ext cx="22764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>
                <a:solidFill>
                  <a:srgbClr val="4F46E5"/>
                </a:solidFill>
                <a:latin typeface="Segoe UI"/>
              </a:rPr>
              <a:t>2010 ~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225" y="3705225"/>
            <a:ext cx="2276475" cy="3961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가상화 기반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IaaS / PaaS / SaaS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2187" y="1714500"/>
            <a:ext cx="762000" cy="685800"/>
          </a:xfrm>
          <a:prstGeom prst="ellipse">
            <a:avLst/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2700000" scaled="0"/>
          </a:gradFill>
          <a:ln w="38100">
            <a:solidFill>
              <a:srgbClr val="4F46E5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>
                <a:solidFill>
                  <a:srgbClr val="1E293B"/>
                </a:solidFill>
                <a:latin typeface="Segoe UI"/>
              </a:rPr>
              <a:t>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3975" y="2590800"/>
            <a:ext cx="2562225" cy="1956345"/>
          </a:xfrm>
          <a:prstGeom prst="roundRect">
            <a:avLst>
              <a:gd name="adj" fmla="val 3408"/>
            </a:avLst>
          </a:prstGeom>
          <a:gradFill>
            <a:gsLst>
              <a:gs pos="0">
                <a:srgbClr val="0A0F2C"/>
              </a:gs>
              <a:gs pos="100000">
                <a:srgbClr val="1E1B4B"/>
              </a:gs>
            </a:gsLst>
            <a:lin ang="2700000" scaled="0"/>
          </a:gra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36498" y="2609850"/>
            <a:ext cx="552450" cy="219075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2700000" scaled="0"/>
          </a:gradFill>
          <a:ln>
            <a:noFill/>
          </a:ln>
        </p:spPr>
        <p:txBody>
          <a:bodyPr wrap="square" anchor="ctr" lIns="95250" rIns="95250" tIns="38100" bIns="3810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NOW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2485" y="2838450"/>
            <a:ext cx="761255" cy="228600"/>
          </a:xfrm>
          <a:prstGeom prst="roundRect">
            <a:avLst>
              <a:gd name="adj" fmla="val 20833"/>
            </a:avLst>
          </a:prstGeom>
          <a:solidFill>
            <a:srgbClr val="00E5FF">
              <a:alpha val="15000"/>
            </a:srgbClr>
          </a:solidFill>
          <a:ln w="12700">
            <a:solidFill>
              <a:srgbClr val="00E5FF">
                <a:alpha val="30000"/>
              </a:srgbClr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00E5FF"/>
                </a:solidFill>
                <a:latin typeface="Segoe UI"/>
              </a:rPr>
              <a:t>④ AI 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475" y="3162300"/>
            <a:ext cx="22574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Segoe UI"/>
              </a:rPr>
              <a:t>AI Factory DC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475" y="3448050"/>
            <a:ext cx="225742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>
                <a:solidFill>
                  <a:srgbClr val="00E5FF"/>
                </a:solidFill>
                <a:latin typeface="Segoe UI"/>
              </a:rPr>
              <a:t>2015 ~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475" y="3724275"/>
            <a:ext cx="2257425" cy="59427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InfiniBand 고속 네트워크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+ GPU 서버 클러스터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대규모 AI/DL 연구·서비스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457200"/>
            <a:ext cx="990897" cy="209550"/>
          </a:xfrm>
          <a:prstGeom prst="roundRect">
            <a:avLst>
              <a:gd name="adj" fmla="val 45454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Segoe UI"/>
              </a:rP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81050"/>
            <a:ext cx="11458956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1E293B"/>
                </a:solidFill>
                <a:latin typeface="Segoe UI"/>
              </a:rPr>
              <a:t>AI DC 4대 핵심 기술 요소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39130"/>
            <a:ext cx="11458956" cy="2190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</a:rPr>
              <a:t>AI DC는 4대 요소가 유기적으로 결합된 복합 기술 시스템이다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657201"/>
            <a:ext cx="5467350" cy="2390775"/>
          </a:xfrm>
          <a:prstGeom prst="roundRect">
            <a:avLst>
              <a:gd name="adj" fmla="val 3187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1904851"/>
            <a:ext cx="1240780" cy="209550"/>
          </a:xfrm>
          <a:prstGeom prst="roundRect">
            <a:avLst>
              <a:gd name="adj" fmla="val 27272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① AI Compute Infra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209651"/>
            <a:ext cx="160972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3730A3"/>
                </a:solidFill>
                <a:latin typeface="Segoe UI"/>
              </a:rPr>
              <a:t>GPU 중심 AI Chip &amp; 서버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457301"/>
            <a:ext cx="1852463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F46E5"/>
                </a:solidFill>
                <a:latin typeface="Segoe UI"/>
              </a:rPr>
              <a:t>• GPU / NPU / DPU 기반 AI 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640062"/>
            <a:ext cx="1852463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F46E5"/>
                </a:solidFill>
                <a:latin typeface="Segoe UI"/>
              </a:rPr>
              <a:t>• 고속 네트워크 대규모 서버 클러스터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822823"/>
            <a:ext cx="1852463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F46E5"/>
                </a:solidFill>
                <a:latin typeface="Segoe UI"/>
              </a:rPr>
              <a:t>• Warehouse-scale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6858" y="3666976"/>
            <a:ext cx="3810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Segoe UI"/>
              </a:rPr>
              <a:t>🖥️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1250" y="1657201"/>
            <a:ext cx="5467350" cy="2390775"/>
          </a:xfrm>
          <a:prstGeom prst="roundRect">
            <a:avLst>
              <a:gd name="adj" fmla="val 3187"/>
            </a:avLst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04851"/>
            <a:ext cx="1192410" cy="209550"/>
          </a:xfrm>
          <a:prstGeom prst="roundRect">
            <a:avLst>
              <a:gd name="adj" fmla="val 27272"/>
            </a:avLst>
          </a:prstGeom>
          <a:solidFill>
            <a:srgbClr val="10B981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② Cooling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09651"/>
            <a:ext cx="1619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65F46"/>
                </a:solidFill>
                <a:latin typeface="Segoe UI"/>
              </a:rPr>
              <a:t>액체 냉각 기반 고효율 냉각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57301"/>
            <a:ext cx="1432768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059669"/>
                </a:solidFill>
                <a:latin typeface="Segoe UI"/>
              </a:rPr>
              <a:t>• Liquid Cooling (직접 액냉)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40062"/>
            <a:ext cx="1432768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059669"/>
                </a:solidFill>
                <a:latin typeface="Segoe UI"/>
              </a:rPr>
              <a:t>• 고밀도 열 관리 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22823"/>
            <a:ext cx="1432768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059669"/>
                </a:solidFill>
                <a:latin typeface="Segoe UI"/>
              </a:rPr>
              <a:t>• PUE 최적화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4708" y="3666976"/>
            <a:ext cx="3810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Segoe UI"/>
              </a:rPr>
              <a:t>❄️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4238476"/>
            <a:ext cx="5467350" cy="2390923"/>
          </a:xfrm>
          <a:prstGeom prst="roundRect">
            <a:avLst>
              <a:gd name="adj" fmla="val 3187"/>
            </a:avLst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950" y="4486126"/>
            <a:ext cx="1134219" cy="209550"/>
          </a:xfrm>
          <a:prstGeom prst="roundRect">
            <a:avLst>
              <a:gd name="adj" fmla="val 27272"/>
            </a:avLst>
          </a:prstGeom>
          <a:solidFill>
            <a:srgbClr val="F97316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③ Energy Supply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4790926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9A3412"/>
                </a:solidFill>
                <a:latin typeface="Segoe UI"/>
              </a:rPr>
              <a:t>전력망 + 백업 + 분산전원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5038576"/>
            <a:ext cx="1539031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EA580C"/>
                </a:solidFill>
                <a:latin typeface="Segoe UI"/>
              </a:rPr>
              <a:t>• 전력망 + UPS / 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5221337"/>
            <a:ext cx="1539031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EA580C"/>
                </a:solidFill>
                <a:latin typeface="Segoe UI"/>
              </a:rPr>
              <a:t>• 재생에너지 / SMR / 연료전지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5404098"/>
            <a:ext cx="1539031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EA580C"/>
                </a:solidFill>
                <a:latin typeface="Segoe UI"/>
              </a:rPr>
              <a:t>• 안정적 전력 공급 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6858" y="6248400"/>
            <a:ext cx="3810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Segoe UI"/>
              </a:rPr>
              <a:t>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1250" y="4238476"/>
            <a:ext cx="5467350" cy="2390923"/>
          </a:xfrm>
          <a:prstGeom prst="roundRect">
            <a:avLst>
              <a:gd name="adj" fmla="val 3187"/>
            </a:avLst>
          </a:prstGeom>
          <a:solidFill>
            <a:srgbClr val="F5F3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486126"/>
            <a:ext cx="1217265" cy="209550"/>
          </a:xfrm>
          <a:prstGeom prst="roundRect">
            <a:avLst>
              <a:gd name="adj" fmla="val 27272"/>
            </a:avLst>
          </a:prstGeom>
          <a:solidFill>
            <a:srgbClr val="8B5CF6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④ 운영/관제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90926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5B21B6"/>
                </a:solidFill>
                <a:latin typeface="Segoe UI"/>
              </a:rPr>
              <a:t>통합 운영 관제 플랫폼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038576"/>
            <a:ext cx="1406276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7C3AED"/>
                </a:solidFill>
                <a:latin typeface="Segoe UI"/>
              </a:rPr>
              <a:t>• 대규모 AI DC 통합 운영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221337"/>
            <a:ext cx="1406276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7C3AED"/>
                </a:solidFill>
                <a:latin typeface="Segoe UI"/>
              </a:rPr>
              <a:t>• 안정성·효율성 실시간 관제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404098"/>
            <a:ext cx="1406276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7C3AED"/>
                </a:solidFill>
                <a:latin typeface="Segoe UI"/>
              </a:rPr>
              <a:t>• 자동화 운영 시스템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4708" y="6248400"/>
            <a:ext cx="3810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Segoe UI"/>
              </a:rPr>
              <a:t>🛰️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3400" y="6800850"/>
            <a:ext cx="11125200" cy="361950"/>
          </a:xfrm>
          <a:prstGeom prst="rect">
            <a:avLst/>
          </a:prstGeom>
          <a:solidFill>
            <a:srgbClr val="F8FAFC"/>
          </a:solidFill>
          <a:ln w="508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2950" y="6924675"/>
            <a:ext cx="5429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💡 핵심: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5336" y="6924675"/>
            <a:ext cx="4424648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4대 요소는 독립적이 아닌 </a:t>
            </a:r>
            <a:r>
              <a:rPr b="1" sz="900">
                <a:solidFill>
                  <a:srgbClr val="4F46E5"/>
                </a:solidFill>
                <a:latin typeface="Segoe UI"/>
              </a:rPr>
              <a:t>유기적 상호 연결</a:t>
            </a:r>
            <a:r>
              <a:rPr sz="900">
                <a:solidFill>
                  <a:srgbClr val="64748B"/>
                </a:solidFill>
                <a:latin typeface="Segoe UI"/>
              </a:rPr>
              <a:t>을 통해 AI DC 전체 성능과 안정성을 결정한다.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19750" y="3666976"/>
            <a:ext cx="952500" cy="9525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29461" y="4028926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A5B4FC"/>
                </a:solidFill>
                <a:latin typeface="Segoe UI"/>
              </a:rPr>
              <a:t>AI DC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8201" y="4162276"/>
            <a:ext cx="619125" cy="1047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>
                <a:solidFill>
                  <a:srgbClr val="94A3B8"/>
                </a:solidFill>
                <a:latin typeface="Segoe UI"/>
              </a:rPr>
              <a:t>Core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457200"/>
            <a:ext cx="990897" cy="209550"/>
          </a:xfrm>
          <a:prstGeom prst="roundRect">
            <a:avLst>
              <a:gd name="adj" fmla="val 45454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Segoe UI"/>
              </a:rP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81050"/>
            <a:ext cx="11458956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1E293B"/>
                </a:solidFill>
                <a:latin typeface="Segoe UI"/>
              </a:rPr>
              <a:t>AI Compute Infra — 新정의와 구성 요소 전체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39130"/>
            <a:ext cx="11458956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</a:rPr>
              <a:t>"Large-Scale AI 연산을 위해 하나의 Compute Unit처럼 동작하는 서버 클러스터"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603920"/>
            <a:ext cx="11125200" cy="457200"/>
          </a:xfrm>
          <a:prstGeom prst="roundRect">
            <a:avLst>
              <a:gd name="adj" fmla="val 10416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1718220"/>
            <a:ext cx="912316" cy="228600"/>
          </a:xfrm>
          <a:prstGeom prst="roundRect">
            <a:avLst>
              <a:gd name="adj" fmla="val 16666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기존 패러다임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2416" y="1751558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CPU 중심 범용 서버 인프라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5912" y="1732508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400">
                <a:solidFill>
                  <a:srgbClr val="4F46E5"/>
                </a:solidFill>
                <a:latin typeface="Segoe U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5962" y="1718220"/>
            <a:ext cx="824358" cy="228600"/>
          </a:xfrm>
          <a:prstGeom prst="roundRect">
            <a:avLst>
              <a:gd name="adj" fmla="val 16666"/>
            </a:avLst>
          </a:prstGeom>
          <a:solidFill>
            <a:srgbClr val="0EA5E9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新 패러다임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521" y="1751558"/>
            <a:ext cx="30119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GPU + DPU 기능 분화 기반 </a:t>
            </a:r>
            <a:r>
              <a:rPr b="1" sz="900">
                <a:solidFill>
                  <a:srgbClr val="0EA5E9"/>
                </a:solidFill>
                <a:latin typeface="Segoe UI"/>
              </a:rPr>
              <a:t>Warehouse-scale Computer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2289720"/>
            <a:ext cx="11125200" cy="1638300"/>
          </a:xfrm>
          <a:prstGeom prst="roundRect">
            <a:avLst>
              <a:gd name="adj" fmla="val 4069"/>
            </a:avLst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450" y="2308770"/>
            <a:ext cx="11419713" cy="3714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Segoe UI"/>
              </a:rPr>
              <a:t>🔬 CHIP 계층 — AI 연산의 핵심 실리콘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2450" y="2680245"/>
            <a:ext cx="11087100" cy="12287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2450" y="2680245"/>
            <a:ext cx="2217390" cy="1228725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50" y="2832645"/>
            <a:ext cx="205546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1E293B"/>
                </a:solidFill>
                <a:latin typeface="Segoe U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118395"/>
            <a:ext cx="205546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4F46E5"/>
                </a:solidFill>
                <a:latin typeface="Segoe UI"/>
              </a:rPr>
              <a:t>CPU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289845"/>
            <a:ext cx="205546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범용 제어</a:t>
            </a:r>
          </a:p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순차 연산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9840" y="2680245"/>
            <a:ext cx="2217390" cy="1228725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4140" y="2832645"/>
            <a:ext cx="205546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1E293B"/>
                </a:solidFill>
                <a:latin typeface="Segoe UI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4140" y="3118395"/>
            <a:ext cx="205546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4F46E5"/>
                </a:solidFill>
                <a:latin typeface="Segoe UI"/>
              </a:rPr>
              <a:t>GPU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4140" y="3289845"/>
            <a:ext cx="205546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4F46E5"/>
                </a:solidFill>
                <a:latin typeface="Segoe UI"/>
              </a:rPr>
              <a:t>AI 학습·추론</a:t>
            </a:r>
          </a:p>
          <a:p>
            <a:pPr algn="ctr"/>
            <a:r>
              <a:rPr sz="800">
                <a:solidFill>
                  <a:srgbClr val="4F46E5"/>
                </a:solidFill>
                <a:latin typeface="Segoe UI"/>
              </a:rPr>
              <a:t>병렬 연산 핵심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2900" y="3594645"/>
            <a:ext cx="457795" cy="161925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>
                <a:solidFill>
                  <a:srgbClr val="FFFFFF"/>
                </a:solidFill>
                <a:latin typeface="Segoe UI"/>
              </a:rPr>
              <a:t>★ 핵심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7230" y="2680245"/>
            <a:ext cx="2217390" cy="1228725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1530" y="2832645"/>
            <a:ext cx="205546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1E293B"/>
                </a:solidFill>
                <a:latin typeface="Segoe UI"/>
              </a:rPr>
              <a:t>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1530" y="3118395"/>
            <a:ext cx="205546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7C3AED"/>
                </a:solidFill>
                <a:latin typeface="Segoe UI"/>
              </a:rPr>
              <a:t>NPU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1530" y="3289845"/>
            <a:ext cx="205546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신경망 전용</a:t>
            </a:r>
          </a:p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추론 가속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4620" y="2680245"/>
            <a:ext cx="2217390" cy="1228725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8920" y="2832645"/>
            <a:ext cx="205546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1E293B"/>
                </a:solidFill>
                <a:latin typeface="Segoe UI"/>
              </a:rP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8920" y="3118395"/>
            <a:ext cx="205546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0EA5E9"/>
                </a:solidFill>
                <a:latin typeface="Segoe UI"/>
              </a:rPr>
              <a:t>DPU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8920" y="3289845"/>
            <a:ext cx="2055465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네트워크 가속</a:t>
            </a:r>
          </a:p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데이터 처리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36310" y="2832645"/>
            <a:ext cx="20651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1E293B"/>
                </a:solidFill>
                <a:latin typeface="Segoe UI"/>
              </a:rPr>
              <a:t>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6310" y="3118395"/>
            <a:ext cx="2065139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059669"/>
                </a:solidFill>
                <a:latin typeface="Segoe UI"/>
              </a:rPr>
              <a:t>HBM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6310" y="3289845"/>
            <a:ext cx="2065139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고대역폭 메모리</a:t>
            </a:r>
          </a:p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AI 연산 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4042320"/>
            <a:ext cx="11458956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4F46E5"/>
                </a:solidFill>
                <a:latin typeface="Segoe UI"/>
              </a:rPr>
              <a:t>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4375695"/>
            <a:ext cx="11125200" cy="1590675"/>
          </a:xfrm>
          <a:prstGeom prst="roundRect">
            <a:avLst>
              <a:gd name="adj" fmla="val 4191"/>
            </a:avLst>
          </a:prstGeom>
          <a:noFill/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2450" y="4394745"/>
            <a:ext cx="11419713" cy="3714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Segoe UI"/>
              </a:rPr>
              <a:t>🏗️ SYSTEM 계층 — 인프라 통합 구조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2450" y="4766220"/>
            <a:ext cx="11087100" cy="1181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2450" y="4766220"/>
            <a:ext cx="3695700" cy="11811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850" y="4937670"/>
            <a:ext cx="3482816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>
                <a:solidFill>
                  <a:srgbClr val="1E293B"/>
                </a:solidFill>
                <a:latin typeface="Segoe UI"/>
              </a:rPr>
              <a:t>🖥️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5261520"/>
            <a:ext cx="3482816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0EA5E9"/>
                </a:solidFill>
                <a:latin typeface="Segoe UI"/>
              </a:rPr>
              <a:t>AI 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850" y="5461545"/>
            <a:ext cx="3482816" cy="3143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GPU 탑재 고성능 서버</a:t>
            </a:r>
          </a:p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대규모 클러스터 구성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48150" y="4766220"/>
            <a:ext cx="3695700" cy="11811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0550" y="4937670"/>
            <a:ext cx="3482816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>
                <a:solidFill>
                  <a:srgbClr val="1E293B"/>
                </a:solidFill>
                <a:latin typeface="Segoe UI"/>
              </a:rPr>
              <a:t>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0550" y="5261520"/>
            <a:ext cx="3482816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0EA5E9"/>
                </a:solidFill>
                <a:latin typeface="Segoe UI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0550" y="5461545"/>
            <a:ext cx="3482816" cy="3143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InfiniBand / Ethernet</a:t>
            </a:r>
          </a:p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초저지연 고대역폭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6250" y="4937670"/>
            <a:ext cx="3492627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>
                <a:solidFill>
                  <a:srgbClr val="1E293B"/>
                </a:solidFill>
                <a:latin typeface="Segoe UI"/>
              </a:rPr>
              <a:t>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6250" y="5261520"/>
            <a:ext cx="3492627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0EA5E9"/>
                </a:solidFill>
                <a:latin typeface="Segoe UI"/>
              </a:rPr>
              <a:t>Storage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6250" y="5461545"/>
            <a:ext cx="3492627" cy="3143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Enterprise SSD</a:t>
            </a:r>
          </a:p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AI 데이터 고속 I/O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3400" y="6800850"/>
            <a:ext cx="11125200" cy="361950"/>
          </a:xfrm>
          <a:prstGeom prst="rect">
            <a:avLst/>
          </a:prstGeom>
          <a:solidFill>
            <a:srgbClr val="F8FAFC"/>
          </a:solidFill>
          <a:ln w="508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2950" y="6924675"/>
            <a:ext cx="5429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💡 핵심: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65336" y="6924675"/>
            <a:ext cx="6426041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전체 인프라를 단일 </a:t>
            </a:r>
            <a:r>
              <a:rPr b="1" sz="900">
                <a:solidFill>
                  <a:srgbClr val="0EA5E9"/>
                </a:solidFill>
                <a:latin typeface="Segoe UI"/>
              </a:rPr>
              <a:t>Warehouse-scale Computer</a:t>
            </a:r>
            <a:r>
              <a:rPr sz="900">
                <a:solidFill>
                  <a:srgbClr val="64748B"/>
                </a:solidFill>
                <a:latin typeface="Segoe UI"/>
              </a:rPr>
              <a:t>로 다루는 패러다임 전환 — 개별 서버가 아닌 클러스터 전체가 하나의 연산 단위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457200"/>
            <a:ext cx="990897" cy="209550"/>
          </a:xfrm>
          <a:prstGeom prst="roundRect">
            <a:avLst>
              <a:gd name="adj" fmla="val 45454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Segoe UI"/>
              </a:rPr>
              <a:t>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81050"/>
            <a:ext cx="11458956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1E293B"/>
                </a:solidFill>
                <a:latin typeface="Segoe UI"/>
              </a:rPr>
              <a:t>AI Chip 심층 분석 — CPU vs GPU 역할 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39130"/>
            <a:ext cx="11458956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</a:rPr>
              <a:t>범용 연산 → GPU(병렬 AI 연산) · DPU(네트워크 가속) 기능 특화가 핵심 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65820"/>
            <a:ext cx="5467350" cy="2848570"/>
          </a:xfrm>
          <a:prstGeom prst="roundRect">
            <a:avLst>
              <a:gd name="adj" fmla="val 2340"/>
            </a:avLst>
          </a:prstGeom>
          <a:solidFill>
            <a:srgbClr val="F8FAFC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2450" y="1584870"/>
            <a:ext cx="5429250" cy="40957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950" y="1703933"/>
            <a:ext cx="449907" cy="17145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475569"/>
                </a:solidFill>
                <a:latin typeface="Segoe UI"/>
              </a:rP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1907" y="1699170"/>
            <a:ext cx="8382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범용 프로세서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165895"/>
            <a:ext cx="44767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>
                <a:solidFill>
                  <a:srgbClr val="1E293B"/>
                </a:solidFill>
                <a:latin typeface="Segoe U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979" y="2165895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475569"/>
                </a:solidFill>
                <a:latin typeface="Segoe UI"/>
              </a:rPr>
              <a:t>순차적 복잡 연산 강점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979" y="2327820"/>
            <a:ext cx="11620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적은 수의 강력한 코어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613570"/>
            <a:ext cx="5199697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475569"/>
                </a:solidFill>
                <a:latin typeface="Segoe UI"/>
              </a:rPr>
              <a:t>• 현재 클럭 속도 한계 도달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2791569"/>
            <a:ext cx="5199697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475569"/>
                </a:solidFill>
                <a:latin typeface="Segoe UI"/>
              </a:rPr>
              <a:t>• Multi-Core · Hyper-Threading으로 성능 향상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969567"/>
            <a:ext cx="5199697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475569"/>
                </a:solidFill>
                <a:latin typeface="Segoe UI"/>
              </a:rPr>
              <a:t>• OS, 제어 로직, 범용 연산 담당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950" y="3280916"/>
            <a:ext cx="5048250" cy="923925"/>
          </a:xfrm>
          <a:prstGeom prst="roundRect">
            <a:avLst>
              <a:gd name="adj" fmla="val 4123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250" y="3376166"/>
            <a:ext cx="4964239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64748B"/>
                </a:solidFill>
                <a:latin typeface="Segoe UI"/>
              </a:rPr>
              <a:t>주요 서버 CPU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3595241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1E293B"/>
                </a:solidFill>
                <a:latin typeface="Segoe UI"/>
              </a:rPr>
              <a:t>Intel Xeon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8569" y="3576191"/>
            <a:ext cx="764530" cy="152400"/>
          </a:xfrm>
          <a:prstGeom prst="roundRect">
            <a:avLst>
              <a:gd name="adj" fmla="val 18750"/>
            </a:avLst>
          </a:prstGeom>
          <a:solidFill>
            <a:srgbClr val="E2E8F0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128 P-Core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3785741"/>
            <a:ext cx="942975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1E293B"/>
                </a:solidFill>
                <a:latin typeface="Segoe UI"/>
              </a:rPr>
              <a:t>AMD EPYC Zen5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344" y="3766691"/>
            <a:ext cx="659755" cy="152400"/>
          </a:xfrm>
          <a:prstGeom prst="roundRect">
            <a:avLst>
              <a:gd name="adj" fmla="val 18750"/>
            </a:avLst>
          </a:prstGeom>
          <a:solidFill>
            <a:srgbClr val="E2E8F0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192 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3976241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1E293B"/>
                </a:solidFill>
                <a:latin typeface="Segoe UI"/>
              </a:rPr>
              <a:t>Nvidia Grace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4485" y="3957191"/>
            <a:ext cx="1058614" cy="152400"/>
          </a:xfrm>
          <a:prstGeom prst="roundRect">
            <a:avLst>
              <a:gd name="adj" fmla="val 18750"/>
            </a:avLst>
          </a:prstGeom>
          <a:solidFill>
            <a:srgbClr val="E2E8F0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72 Core + NVLink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1250" y="1565820"/>
            <a:ext cx="5467350" cy="2848570"/>
          </a:xfrm>
          <a:prstGeom prst="roundRect">
            <a:avLst>
              <a:gd name="adj" fmla="val 2340"/>
            </a:avLst>
          </a:prstGeom>
          <a:solidFill>
            <a:srgbClr val="F0F9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0300" y="1584870"/>
            <a:ext cx="5429250" cy="409575"/>
          </a:xfrm>
          <a:prstGeom prst="rect">
            <a:avLst/>
          </a:prstGeom>
          <a:gradFill>
            <a:gsLst>
              <a:gs pos="0">
                <a:srgbClr val="0EA5E9"/>
              </a:gs>
              <a:gs pos="100000">
                <a:srgbClr val="4F46E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703933"/>
            <a:ext cx="455711" cy="17145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0EA5E9"/>
                </a:solidFill>
                <a:latin typeface="Segoe UI"/>
              </a:rPr>
              <a:t>GPU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5561" y="1699170"/>
            <a:ext cx="119062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AI 연산 핵심 엔진 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165895"/>
            <a:ext cx="447675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>
                <a:solidFill>
                  <a:srgbClr val="1E293B"/>
                </a:solidFill>
                <a:latin typeface="Segoe UI"/>
              </a:rPr>
              <a:t>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8829" y="2165895"/>
            <a:ext cx="15049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0369A1"/>
                </a:solidFill>
                <a:latin typeface="Segoe UI"/>
              </a:rPr>
              <a:t>수천 개 코어 대규모 병렬처리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8829" y="2327820"/>
            <a:ext cx="15049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AI 학습·추론의 핵심 엔진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613570"/>
            <a:ext cx="5199697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0369A1"/>
                </a:solidFill>
                <a:latin typeface="Segoe UI"/>
              </a:rPr>
              <a:t>• 행렬 연산 특화 병렬 아키텍처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791569"/>
            <a:ext cx="5199697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0369A1"/>
                </a:solidFill>
                <a:latin typeface="Segoe UI"/>
              </a:rPr>
              <a:t>• Tensor Core 기반 AI 연산 가속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969567"/>
            <a:ext cx="5199697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0369A1"/>
                </a:solidFill>
                <a:latin typeface="Segoe UI"/>
              </a:rPr>
              <a:t>• HBM 고대역폭 메모리 연동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280916"/>
            <a:ext cx="5048250" cy="942975"/>
          </a:xfrm>
          <a:prstGeom prst="roundRect">
            <a:avLst>
              <a:gd name="adj" fmla="val 404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5100" y="3376166"/>
            <a:ext cx="4964239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0369A1"/>
                </a:solidFill>
                <a:latin typeface="Segoe UI"/>
              </a:rPr>
              <a:t>📈 GPU 성능 진화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15100" y="3614291"/>
            <a:ext cx="2121396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72250" y="3690491"/>
            <a:ext cx="2083296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GTX 580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2250" y="3795266"/>
            <a:ext cx="2083296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475569"/>
                </a:solidFill>
                <a:latin typeface="Segoe UI"/>
              </a:rPr>
              <a:t>197.6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2250" y="3938141"/>
            <a:ext cx="2083296" cy="1047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Segoe UI"/>
              </a:rPr>
              <a:t>GFLOPS · 2012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9200" y="3704778"/>
            <a:ext cx="2476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EA5E9"/>
                </a:solidFill>
                <a:latin typeface="Segoe U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12696" y="3857178"/>
            <a:ext cx="462557" cy="161925"/>
          </a:xfrm>
          <a:prstGeom prst="roundRect">
            <a:avLst>
              <a:gd name="adj" fmla="val 17647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700">
                <a:solidFill>
                  <a:srgbClr val="FFFFFF"/>
                </a:solidFill>
                <a:latin typeface="Segoe UI"/>
              </a:rPr>
              <a:t>×172배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75253" y="3595241"/>
            <a:ext cx="2159496" cy="533400"/>
          </a:xfrm>
          <a:prstGeom prst="roundRect">
            <a:avLst>
              <a:gd name="adj" fmla="val 7142"/>
            </a:avLst>
          </a:prstGeom>
          <a:gradFill>
            <a:gsLst>
              <a:gs pos="0">
                <a:srgbClr val="EEF2FF"/>
              </a:gs>
              <a:gs pos="100000">
                <a:srgbClr val="E0F2FE"/>
              </a:gs>
            </a:gsLst>
            <a:lin ang="2700000" scaled="0"/>
          </a:gra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51453" y="3690491"/>
            <a:ext cx="2083296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4F46E5"/>
                </a:solidFill>
                <a:latin typeface="Segoe UI"/>
              </a:rPr>
              <a:t>H100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1453" y="3795266"/>
            <a:ext cx="2083296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4F46E5"/>
                </a:solidFill>
                <a:latin typeface="Segoe UI"/>
              </a:rPr>
              <a:t>34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1453" y="3938141"/>
            <a:ext cx="2083296" cy="1047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>
                <a:solidFill>
                  <a:srgbClr val="6366F1"/>
                </a:solidFill>
                <a:latin typeface="Segoe UI"/>
              </a:rPr>
              <a:t>TFLOPS · 2024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3400" y="4604891"/>
            <a:ext cx="11125200" cy="438150"/>
          </a:xfrm>
          <a:prstGeom prst="roundRect">
            <a:avLst>
              <a:gd name="adj" fmla="val 10869"/>
            </a:avLst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3425" y="4728716"/>
            <a:ext cx="616446" cy="1905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+ DPU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6071" y="4738241"/>
            <a:ext cx="7179629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5B21B6"/>
                </a:solidFill>
                <a:latin typeface="Segoe UI"/>
              </a:rPr>
              <a:t>네트워크 가속 특화 프로세서</a:t>
            </a:r>
            <a:r>
              <a:rPr sz="900">
                <a:solidFill>
                  <a:srgbClr val="5B21B6"/>
                </a:solidFill>
                <a:latin typeface="Segoe UI"/>
              </a:rPr>
              <a:t> — CPU의 네트워크 처리 부담을 분리하여 전체 시스템 효율 극대화. AI DC 내 데이터 이동·처리 가속의 핵심 역할 수행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521940"/>
          </a:xfrm>
          <a:prstGeom prst="rect">
            <a:avLst/>
          </a:prstGeom>
          <a:noFill/>
          <a:ln w="635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3425" y="457200"/>
            <a:ext cx="1125293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0EA5E9"/>
                </a:solidFill>
                <a:latin typeface="Segoe UI"/>
              </a:rPr>
              <a:t>Slide 7 · AI 인프라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657225"/>
            <a:ext cx="1125293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000">
                <a:solidFill>
                  <a:srgbClr val="1E293B"/>
                </a:solidFill>
                <a:latin typeface="Segoe UI"/>
              </a:rPr>
              <a:t>AI GPU 시장 현황 및 주요 Vendor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45840"/>
            <a:ext cx="11478577" cy="464790"/>
          </a:xfrm>
          <a:prstGeom prst="roundRect">
            <a:avLst>
              <a:gd name="adj" fmla="val 10246"/>
            </a:avLst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2700000" scaled="0"/>
          </a:gradFill>
          <a:ln>
            <a:noFill/>
          </a:ln>
        </p:spPr>
        <p:txBody>
          <a:bodyPr wrap="square" anchor="ctr" lIns="190500" rIns="190500" tIns="133350" bIns="13335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핵심 메시지 ▶</a:t>
            </a:r>
            <a:r>
              <a:rPr sz="1000">
                <a:solidFill>
                  <a:srgbClr val="FFFFFF"/>
                </a:solidFill>
                <a:latin typeface="Segoe UI"/>
              </a:rPr>
              <a:t> 서버용 GPU 시장은 Nvidia가 </a:t>
            </a:r>
            <a:r>
              <a:rPr b="1" sz="1000">
                <a:solidFill>
                  <a:srgbClr val="FFFFFF"/>
                </a:solidFill>
                <a:latin typeface="Segoe UI"/>
              </a:rPr>
              <a:t>90% 이상</a:t>
            </a:r>
            <a:r>
              <a:rPr sz="1000">
                <a:solidFill>
                  <a:srgbClr val="FFFFFF"/>
                </a:solidFill>
                <a:latin typeface="Segoe UI"/>
              </a:rPr>
              <a:t>을 독점하는 가운데, AMD·Intel의 도전이 가속화되고 있으며 차세대 </a:t>
            </a:r>
            <a:r>
              <a:rPr b="1" sz="1000">
                <a:solidFill>
                  <a:srgbClr val="FFFFFF"/>
                </a:solidFill>
                <a:latin typeface="Segoe UI"/>
              </a:rPr>
              <a:t>Blackwell 아키텍처</a:t>
            </a:r>
            <a:r>
              <a:rPr sz="1000">
                <a:solidFill>
                  <a:srgbClr val="FFFFFF"/>
                </a:solidFill>
                <a:latin typeface="Segoe UI"/>
              </a:rPr>
              <a:t>가 성능 패러다임을 전환한다.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939230"/>
            <a:ext cx="7482382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GPU 스펙 비교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215455"/>
            <a:ext cx="7264449" cy="381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2215455"/>
            <a:ext cx="2047875" cy="381000"/>
          </a:xfrm>
          <a:prstGeom prst="rect">
            <a:avLst/>
          </a:prstGeom>
          <a:noFill/>
          <a:ln w="25400">
            <a:solidFill>
              <a:srgbClr val="E2E8F0"/>
            </a:solidFill>
          </a:ln>
        </p:spPr>
        <p:txBody>
          <a:bodyPr wrap="square" anchor="t" lIns="114300" rIns="114300" tIns="95250" bIns="95250">
            <a:spAutoFit/>
          </a:bodyPr>
          <a:lstStyle/>
          <a:p>
            <a:pPr algn="l"/>
            <a:r>
              <a:rPr b="1" sz="900">
                <a:solidFill>
                  <a:srgbClr val="475569"/>
                </a:solidFill>
                <a:latin typeface="Segoe UI"/>
              </a:rPr>
              <a:t>제품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2549" y="2215455"/>
            <a:ext cx="1381125" cy="381000"/>
          </a:xfrm>
          <a:prstGeom prst="rect">
            <a:avLst/>
          </a:prstGeom>
          <a:noFill/>
          <a:ln w="25400">
            <a:solidFill>
              <a:srgbClr val="E2E8F0"/>
            </a:solidFill>
          </a:ln>
        </p:spPr>
        <p:txBody>
          <a:bodyPr wrap="square" anchor="t" lIns="114300" rIns="114300" tIns="95250" bIns="95250">
            <a:spAutoFit/>
          </a:bodyPr>
          <a:lstStyle/>
          <a:p>
            <a:pPr algn="ctr"/>
            <a:r>
              <a:rPr b="1" sz="900">
                <a:solidFill>
                  <a:srgbClr val="475569"/>
                </a:solidFill>
                <a:latin typeface="Segoe UI"/>
              </a:rPr>
              <a:t>메모리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413" y="2215455"/>
            <a:ext cx="895350" cy="381000"/>
          </a:xfrm>
          <a:prstGeom prst="rect">
            <a:avLst/>
          </a:prstGeom>
          <a:noFill/>
          <a:ln w="25400">
            <a:solidFill>
              <a:srgbClr val="E2E8F0"/>
            </a:solidFill>
          </a:ln>
        </p:spPr>
        <p:txBody>
          <a:bodyPr wrap="square" anchor="t" lIns="114300" rIns="114300" tIns="95250" bIns="95250">
            <a:spAutoFit/>
          </a:bodyPr>
          <a:lstStyle/>
          <a:p>
            <a:pPr algn="ctr"/>
            <a:r>
              <a:rPr b="1" sz="900">
                <a:solidFill>
                  <a:srgbClr val="475569"/>
                </a:solidFill>
                <a:latin typeface="Segoe UI"/>
              </a:rPr>
              <a:t>TDP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1311" y="2215455"/>
            <a:ext cx="1285875" cy="381000"/>
          </a:xfrm>
          <a:prstGeom prst="rect">
            <a:avLst/>
          </a:prstGeom>
          <a:noFill/>
          <a:ln w="25400">
            <a:solidFill>
              <a:srgbClr val="E2E8F0"/>
            </a:solidFill>
          </a:ln>
        </p:spPr>
        <p:txBody>
          <a:bodyPr wrap="square" anchor="t" lIns="114300" rIns="114300" tIns="95250" bIns="95250">
            <a:spAutoFit/>
          </a:bodyPr>
          <a:lstStyle/>
          <a:p>
            <a:pPr algn="ctr"/>
            <a:r>
              <a:rPr b="1" sz="900">
                <a:solidFill>
                  <a:srgbClr val="475569"/>
                </a:solidFill>
                <a:latin typeface="Segoe UI"/>
              </a:rPr>
              <a:t>성능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0728" y="2215455"/>
            <a:ext cx="2343150" cy="381000"/>
          </a:xfrm>
          <a:prstGeom prst="rect">
            <a:avLst/>
          </a:prstGeom>
          <a:noFill/>
          <a:ln w="25400">
            <a:solidFill>
              <a:srgbClr val="E2E8F0"/>
            </a:solidFill>
          </a:ln>
        </p:spPr>
        <p:txBody>
          <a:bodyPr wrap="square" anchor="t" lIns="114300" rIns="114300" tIns="95250" bIns="95250">
            <a:spAutoFit/>
          </a:bodyPr>
          <a:lstStyle/>
          <a:p>
            <a:pPr algn="l"/>
            <a:r>
              <a:rPr b="1" sz="900">
                <a:solidFill>
                  <a:srgbClr val="475569"/>
                </a:solidFill>
                <a:latin typeface="Segoe UI"/>
              </a:rPr>
              <a:t>특징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2596455"/>
            <a:ext cx="7264449" cy="471487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2786955"/>
            <a:ext cx="95250" cy="9525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150" y="2710755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15803D"/>
                </a:solidFill>
                <a:latin typeface="Segoe UI"/>
              </a:rPr>
              <a:t>Nvidia H100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2853630"/>
            <a:ext cx="81915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SXM5 · Hopper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2549" y="2596455"/>
            <a:ext cx="1381125" cy="471487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04775" bIns="104775">
            <a:spAutoFit/>
          </a:bodyPr>
          <a:lstStyle/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HBM3 80GB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5413" y="2596455"/>
            <a:ext cx="895350" cy="471487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04775" bIns="104775">
            <a:spAutoFit/>
          </a:bodyPr>
          <a:lstStyle/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700W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49" y="2715517"/>
            <a:ext cx="8191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15803D"/>
                </a:solidFill>
                <a:latin typeface="Segoe UI"/>
              </a:rPr>
              <a:t>495 TFLOPS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819" y="2848867"/>
            <a:ext cx="995808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TF32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0728" y="2596455"/>
            <a:ext cx="2343150" cy="471487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04775" bIns="104775">
            <a:spAutoFit/>
          </a:bodyPr>
          <a:lstStyle/>
          <a:p>
            <a:pPr algn="l"/>
            <a:r>
              <a:rPr sz="900">
                <a:solidFill>
                  <a:srgbClr val="374151"/>
                </a:solidFill>
                <a:latin typeface="Segoe UI"/>
              </a:rPr>
              <a:t>AI DC 표준 · 시장 점유율 </a:t>
            </a:r>
            <a:r>
              <a:rPr b="1" sz="900">
                <a:solidFill>
                  <a:srgbClr val="374151"/>
                </a:solidFill>
                <a:latin typeface="Segoe UI"/>
              </a:rPr>
              <a:t>90%+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3067942"/>
            <a:ext cx="7264449" cy="466725"/>
          </a:xfrm>
          <a:prstGeom prst="rect">
            <a:avLst/>
          </a:prstGeom>
          <a:solidFill>
            <a:srgbClr val="FFF7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7700" y="3253680"/>
            <a:ext cx="95250" cy="9525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150" y="3177480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DC2626"/>
                </a:solidFill>
                <a:latin typeface="Segoe UI"/>
              </a:rPr>
              <a:t>AMD Instinct MI300X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" y="332035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CDNA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125" y="3234630"/>
            <a:ext cx="86677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DC2626"/>
                </a:solidFill>
                <a:latin typeface="Segoe UI"/>
              </a:rPr>
              <a:t>HBM3 192GB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5413" y="3067942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04775" bIns="104775">
            <a:spAutoFit/>
          </a:bodyPr>
          <a:lstStyle/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750W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49" y="3182242"/>
            <a:ext cx="8191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DC2626"/>
                </a:solidFill>
                <a:latin typeface="Segoe UI"/>
              </a:rPr>
              <a:t>654 TFLOPS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6819" y="3315592"/>
            <a:ext cx="995808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FP16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90728" y="3067942"/>
            <a:ext cx="2343150" cy="466725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04775" bIns="104775">
            <a:spAutoFit/>
          </a:bodyPr>
          <a:lstStyle/>
          <a:p>
            <a:pPr algn="l"/>
            <a:r>
              <a:rPr b="1" sz="900">
                <a:solidFill>
                  <a:srgbClr val="374151"/>
                </a:solidFill>
                <a:latin typeface="Segoe UI"/>
              </a:rPr>
              <a:t>대용량 메모리</a:t>
            </a:r>
            <a:r>
              <a:rPr sz="900">
                <a:solidFill>
                  <a:srgbClr val="374151"/>
                </a:solidFill>
                <a:latin typeface="Segoe UI"/>
              </a:rPr>
              <a:t> 강점 · LLM 추론 최적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3400" y="3534667"/>
            <a:ext cx="7264449" cy="466725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7700" y="3720405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150" y="3644205"/>
            <a:ext cx="8667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2563EB"/>
                </a:solidFill>
                <a:latin typeface="Segoe UI"/>
              </a:rPr>
              <a:t>Intel Gaudi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150" y="3787080"/>
            <a:ext cx="866775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Habana Labs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2549" y="3534667"/>
            <a:ext cx="1381125" cy="466725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04775" bIns="104775">
            <a:spAutoFit/>
          </a:bodyPr>
          <a:lstStyle/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HBM2E 128GB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65413" y="3534667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04775" bIns="104775">
            <a:spAutoFit/>
          </a:bodyPr>
          <a:lstStyle/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900W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5149" y="3648967"/>
            <a:ext cx="8191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2563EB"/>
                </a:solidFill>
                <a:latin typeface="Segoe UI"/>
              </a:rPr>
              <a:t>459 TFLOPS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6819" y="3782317"/>
            <a:ext cx="995808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BF16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90728" y="3534667"/>
            <a:ext cx="2343150" cy="466725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04775" bIns="104775">
            <a:spAutoFit/>
          </a:bodyPr>
          <a:lstStyle/>
          <a:p>
            <a:pPr algn="l"/>
            <a:r>
              <a:rPr sz="900">
                <a:solidFill>
                  <a:srgbClr val="374151"/>
                </a:solidFill>
                <a:latin typeface="Segoe UI"/>
              </a:rPr>
              <a:t>후발주자 · 오픈 생태계 전략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3400" y="4001392"/>
            <a:ext cx="7264449" cy="50006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7700" y="4206180"/>
            <a:ext cx="95250" cy="9525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150" y="4110930"/>
            <a:ext cx="10763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59669"/>
                </a:solidFill>
                <a:latin typeface="Segoe UI"/>
              </a:rPr>
              <a:t>Nvidia B200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150" y="4253805"/>
            <a:ext cx="10763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Blackwell · '24 4Q 예정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2549" y="4001392"/>
            <a:ext cx="1381125" cy="500062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04775" bIns="104775">
            <a:spAutoFit/>
          </a:bodyPr>
          <a:lstStyle/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HBM3e 192GB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65413" y="4001392"/>
            <a:ext cx="895350" cy="500062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04775" bIns="104775">
            <a:spAutoFit/>
          </a:bodyPr>
          <a:lstStyle/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1,000W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1262" y="4134742"/>
            <a:ext cx="86677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059669"/>
                </a:solidFill>
                <a:latin typeface="Segoe UI"/>
              </a:rPr>
              <a:t>~1.8 PFLOPS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6819" y="4268092"/>
            <a:ext cx="995808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FP8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0728" y="4001392"/>
            <a:ext cx="2343150" cy="500062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04775" bIns="104775">
            <a:spAutoFit/>
          </a:bodyPr>
          <a:lstStyle/>
          <a:p>
            <a:pPr algn="l"/>
            <a:r>
              <a:rPr sz="900">
                <a:solidFill>
                  <a:srgbClr val="374151"/>
                </a:solidFill>
                <a:latin typeface="Segoe UI"/>
              </a:rPr>
              <a:t>트랜지스터 </a:t>
            </a:r>
            <a:r>
              <a:rPr b="1" sz="900">
                <a:solidFill>
                  <a:srgbClr val="374151"/>
                </a:solidFill>
                <a:latin typeface="Segoe UI"/>
              </a:rPr>
              <a:t>2배</a:t>
            </a:r>
            <a:r>
              <a:rPr sz="900">
                <a:solidFill>
                  <a:srgbClr val="374151"/>
                </a:solidFill>
                <a:latin typeface="Segoe UI"/>
              </a:rPr>
              <a:t> · 처리 성능 </a:t>
            </a:r>
            <a:r>
              <a:rPr b="1" sz="900">
                <a:solidFill>
                  <a:srgbClr val="374151"/>
                </a:solidFill>
                <a:latin typeface="Segoe UI"/>
              </a:rPr>
              <a:t>2.5배↑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26449" y="1939230"/>
            <a:ext cx="3632150" cy="2314575"/>
          </a:xfrm>
          <a:prstGeom prst="roundRect">
            <a:avLst>
              <a:gd name="adj" fmla="val 246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7899" y="2110680"/>
            <a:ext cx="3387927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4F46E5"/>
                </a:solidFill>
                <a:latin typeface="Segoe UI"/>
              </a:rPr>
              <a:t>시장 점유율 (서버 GPU)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7187" y="2810767"/>
            <a:ext cx="466725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400">
                <a:solidFill>
                  <a:srgbClr val="15803D"/>
                </a:solidFill>
                <a:latin typeface="Segoe UI"/>
              </a:rPr>
              <a:t>90%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97899" y="3577530"/>
            <a:ext cx="114300" cy="114300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8399" y="3568005"/>
            <a:ext cx="4667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1E293B"/>
                </a:solidFill>
                <a:latin typeface="Segoe UI"/>
              </a:rPr>
              <a:t>Nvidia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91577" y="356800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15803D"/>
                </a:solidFill>
                <a:latin typeface="Segoe UI"/>
              </a:rPr>
              <a:t>~90%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97899" y="3768030"/>
            <a:ext cx="114300" cy="11430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88399" y="375850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1E293B"/>
                </a:solidFill>
                <a:latin typeface="Segoe UI"/>
              </a:rPr>
              <a:t>AMD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55126" y="3758505"/>
            <a:ext cx="3524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DC2626"/>
                </a:solidFill>
                <a:latin typeface="Segoe UI"/>
              </a:rPr>
              <a:t>~7%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97899" y="3958530"/>
            <a:ext cx="114300" cy="11430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88399" y="3949005"/>
            <a:ext cx="3524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1E293B"/>
                </a:solidFill>
                <a:latin typeface="Segoe UI"/>
              </a:rPr>
              <a:t>Intel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55126" y="3949005"/>
            <a:ext cx="3524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2563EB"/>
                </a:solidFill>
                <a:latin typeface="Segoe UI"/>
              </a:rPr>
              <a:t>~3%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26449" y="4406205"/>
            <a:ext cx="3632150" cy="1272926"/>
          </a:xfrm>
          <a:prstGeom prst="roundRect">
            <a:avLst>
              <a:gd name="adj" fmla="val 4489"/>
            </a:avLst>
          </a:prstGeom>
          <a:gradFill>
            <a:gsLst>
              <a:gs pos="0">
                <a:srgbClr val="052E16"/>
              </a:gs>
              <a:gs pos="100000">
                <a:srgbClr val="166534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78849" y="4558605"/>
            <a:ext cx="342717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86EFAC"/>
                </a:solidFill>
                <a:latin typeface="Segoe UI"/>
              </a:rPr>
              <a:t>⚡ Next-Gen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78849" y="4758630"/>
            <a:ext cx="342717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Blackwell B200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78849" y="4968180"/>
            <a:ext cx="3427170" cy="558551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D1FAE5"/>
                </a:solidFill>
                <a:latin typeface="Segoe UI"/>
              </a:rPr>
              <a:t>트랜지스터 </a:t>
            </a:r>
            <a:r>
              <a:rPr b="1" sz="900">
                <a:solidFill>
                  <a:srgbClr val="FFFFFF"/>
                </a:solidFill>
                <a:latin typeface="Segoe UI"/>
              </a:rPr>
              <a:t>2배</a:t>
            </a:r>
          </a:p>
          <a:p>
            <a:pPr algn="l"/>
            <a:r>
              <a:rPr sz="900">
                <a:solidFill>
                  <a:srgbClr val="D1FAE5"/>
                </a:solidFill>
                <a:latin typeface="Segoe UI"/>
              </a:rPr>
              <a:t>처리 성능 </a:t>
            </a:r>
            <a:r>
              <a:rPr b="1" sz="900">
                <a:solidFill>
                  <a:srgbClr val="FFFFFF"/>
                </a:solidFill>
                <a:latin typeface="Segoe UI"/>
              </a:rPr>
              <a:t>2.5배 ↑</a:t>
            </a:r>
          </a:p>
          <a:p>
            <a:pPr algn="l"/>
            <a:r>
              <a:rPr sz="900">
                <a:solidFill>
                  <a:srgbClr val="D1FAE5"/>
                </a:solidFill>
                <a:latin typeface="Segoe UI"/>
              </a:rPr>
              <a:t>'24 4Q 출시 예정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521940"/>
          </a:xfrm>
          <a:prstGeom prst="rect">
            <a:avLst/>
          </a:prstGeom>
          <a:noFill/>
          <a:ln w="635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3425" y="457200"/>
            <a:ext cx="1125293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4F46E5"/>
                </a:solidFill>
                <a:latin typeface="Segoe UI"/>
              </a:rPr>
              <a:t>Slide 8 · AI 인프라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657225"/>
            <a:ext cx="1125293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000">
                <a:solidFill>
                  <a:srgbClr val="1E293B"/>
                </a:solidFill>
                <a:latin typeface="Segoe UI"/>
              </a:rPr>
              <a:t>NPU — 빅테크의 자체 AI Chip 개발 경쟁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45840"/>
            <a:ext cx="11478577" cy="464790"/>
          </a:xfrm>
          <a:prstGeom prst="roundRect">
            <a:avLst>
              <a:gd name="adj" fmla="val 10246"/>
            </a:avLst>
          </a:prstGeom>
          <a:gradFill>
            <a:gsLst>
              <a:gs pos="0">
                <a:srgbClr val="0EA5E9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</p:spPr>
        <p:txBody>
          <a:bodyPr wrap="square" anchor="ctr" lIns="190500" rIns="190500" tIns="133350" bIns="13335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핵심 메시지 ▶</a:t>
            </a:r>
            <a:r>
              <a:rPr sz="1000">
                <a:solidFill>
                  <a:srgbClr val="FFFFFF"/>
                </a:solidFill>
                <a:latin typeface="Segoe UI"/>
              </a:rPr>
              <a:t> Google·AWS·MS·Meta 등 빅테크는 특정 AI 워크로드에 최적화된 자체 NPU를 개발하여 </a:t>
            </a:r>
            <a:r>
              <a:rPr b="1" sz="1000">
                <a:solidFill>
                  <a:srgbClr val="FFFFFF"/>
                </a:solidFill>
                <a:latin typeface="Segoe UI"/>
              </a:rPr>
              <a:t>비용 절감</a:t>
            </a:r>
            <a:r>
              <a:rPr sz="1000">
                <a:solidFill>
                  <a:srgbClr val="FFFFFF"/>
                </a:solidFill>
                <a:latin typeface="Segoe UI"/>
              </a:rPr>
              <a:t>과 </a:t>
            </a:r>
            <a:r>
              <a:rPr b="1" sz="1000">
                <a:solidFill>
                  <a:srgbClr val="FFFFFF"/>
                </a:solidFill>
                <a:latin typeface="Segoe UI"/>
              </a:rPr>
              <a:t>성능 효율</a:t>
            </a:r>
            <a:r>
              <a:rPr sz="1000">
                <a:solidFill>
                  <a:srgbClr val="FFFFFF"/>
                </a:solidFill>
                <a:latin typeface="Segoe UI"/>
              </a:rPr>
              <a:t>을 동시에 추구하고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939230"/>
            <a:ext cx="3632150" cy="1743075"/>
          </a:xfrm>
          <a:prstGeom prst="roundRect">
            <a:avLst>
              <a:gd name="adj" fmla="val 3278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2120205"/>
            <a:ext cx="3368306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4F46E5"/>
                </a:solidFill>
                <a:latin typeface="Segoe UI"/>
              </a:rPr>
              <a:t>NPU란?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2396430"/>
            <a:ext cx="381000" cy="304800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2700000" scaled="0"/>
          </a:gra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475" y="2396430"/>
            <a:ext cx="141922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374151"/>
                </a:solidFill>
                <a:latin typeface="Segoe UI"/>
              </a:rPr>
              <a:t>딥러닝 연산 특화</a:t>
            </a:r>
            <a:r>
              <a:rPr sz="900">
                <a:solidFill>
                  <a:srgbClr val="374151"/>
                </a:solidFill>
                <a:latin typeface="Segoe UI"/>
              </a:rPr>
              <a:t> 프로세서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2796480"/>
            <a:ext cx="381000" cy="304800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2700000" scaled="0"/>
          </a:gra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475" y="2796480"/>
            <a:ext cx="172402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374151"/>
                </a:solidFill>
                <a:latin typeface="Segoe UI"/>
              </a:rPr>
              <a:t>반복 </a:t>
            </a:r>
            <a:r>
              <a:rPr b="1" sz="900">
                <a:solidFill>
                  <a:srgbClr val="374151"/>
                </a:solidFill>
                <a:latin typeface="Segoe UI"/>
              </a:rPr>
              <a:t>행렬/벡터 연산</a:t>
            </a:r>
            <a:r>
              <a:rPr sz="900">
                <a:solidFill>
                  <a:srgbClr val="374151"/>
                </a:solidFill>
                <a:latin typeface="Segoe UI"/>
              </a:rPr>
              <a:t>의 H/W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3196530"/>
            <a:ext cx="381000" cy="304800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2700000" scaled="0"/>
          </a:gra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75" y="3196530"/>
            <a:ext cx="12763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374151"/>
                </a:solidFill>
                <a:latin typeface="Segoe UI"/>
              </a:rPr>
              <a:t>저전력 · 고속 처리</a:t>
            </a:r>
            <a:r>
              <a:rPr sz="900">
                <a:solidFill>
                  <a:srgbClr val="374151"/>
                </a:solidFill>
                <a:latin typeface="Segoe UI"/>
              </a:rPr>
              <a:t> 실현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3834705"/>
            <a:ext cx="3632150" cy="1363860"/>
          </a:xfrm>
          <a:prstGeom prst="roundRect">
            <a:avLst>
              <a:gd name="adj" fmla="val 4190"/>
            </a:avLst>
          </a:prstGeom>
          <a:gradFill>
            <a:gsLst>
              <a:gs pos="0">
                <a:srgbClr val="EEF2FF"/>
              </a:gs>
              <a:gs pos="100000">
                <a:srgbClr val="E0F2FE"/>
              </a:gs>
            </a:gsLst>
            <a:lin ang="2700000" scaled="0"/>
          </a:gradFill>
          <a:ln w="508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950" y="4006155"/>
            <a:ext cx="3348684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4F46E5"/>
                </a:solidFill>
                <a:latin typeface="Segoe UI"/>
              </a:rPr>
              <a:t>핵심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263330"/>
            <a:ext cx="3348684" cy="42088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Segoe UI"/>
              </a:rPr>
              <a:t>맞춤형 설계</a:t>
            </a:r>
          </a:p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특정 서비스 연산 최적화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4779466"/>
            <a:ext cx="219075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600">
                <a:solidFill>
                  <a:srgbClr val="4F46E5"/>
                </a:solidFill>
                <a:latin typeface="Segoe UI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4812803"/>
            <a:ext cx="16383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374151"/>
                </a:solidFill>
                <a:latin typeface="Segoe UI"/>
              </a:rPr>
              <a:t>범용 GPU 대비 </a:t>
            </a:r>
            <a:r>
              <a:rPr b="1" sz="900">
                <a:solidFill>
                  <a:srgbClr val="4F46E5"/>
                </a:solidFill>
                <a:latin typeface="Segoe UI"/>
              </a:rPr>
              <a:t>높은 비용 효율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5350966"/>
            <a:ext cx="3632150" cy="809625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" y="5512891"/>
            <a:ext cx="3407549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64748B"/>
                </a:solidFill>
                <a:latin typeface="Segoe UI"/>
              </a:rPr>
              <a:t>기타 자체 칩 개발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325" y="5770066"/>
            <a:ext cx="975419" cy="228600"/>
          </a:xfrm>
          <a:prstGeom prst="roundRect">
            <a:avLst>
              <a:gd name="adj" fmla="val 41666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>
                <a:solidFill>
                  <a:srgbClr val="1D4ED8"/>
                </a:solidFill>
                <a:latin typeface="Segoe UI"/>
              </a:rPr>
              <a:t>MS Maia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0744" y="5770066"/>
            <a:ext cx="1019770" cy="228600"/>
          </a:xfrm>
          <a:prstGeom prst="roundRect">
            <a:avLst>
              <a:gd name="adj" fmla="val 41666"/>
            </a:avLst>
          </a:prstGeom>
          <a:solidFill>
            <a:srgbClr val="FDF4FF"/>
          </a:solidFill>
          <a:ln w="12700">
            <a:solidFill>
              <a:srgbClr val="E9D5F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>
                <a:solidFill>
                  <a:srgbClr val="7C3AED"/>
                </a:solidFill>
                <a:latin typeface="Segoe UI"/>
              </a:rPr>
              <a:t>Meta MTIA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0514" y="5770066"/>
            <a:ext cx="1040159" cy="228600"/>
          </a:xfrm>
          <a:prstGeom prst="roundRect">
            <a:avLst>
              <a:gd name="adj" fmla="val 41666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>
                <a:solidFill>
                  <a:srgbClr val="C2410C"/>
                </a:solidFill>
                <a:latin typeface="Segoe UI"/>
              </a:rPr>
              <a:t>Tesla Dojo D1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4150" y="1939230"/>
            <a:ext cx="7482382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EA5E9"/>
                </a:solidFill>
                <a:latin typeface="Segoe UI"/>
              </a:rPr>
              <a:t>빅테크 NPU 비교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4150" y="2215455"/>
            <a:ext cx="7264449" cy="381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4150" y="2215455"/>
            <a:ext cx="2533650" cy="381000"/>
          </a:xfrm>
          <a:prstGeom prst="rect">
            <a:avLst/>
          </a:prstGeom>
          <a:noFill/>
          <a:ln w="25400">
            <a:solidFill>
              <a:srgbClr val="E2E8F0"/>
            </a:solidFill>
          </a:ln>
        </p:spPr>
        <p:txBody>
          <a:bodyPr wrap="square" anchor="t" lIns="114300" rIns="114300" tIns="95250" bIns="95250">
            <a:spAutoFit/>
          </a:bodyPr>
          <a:lstStyle/>
          <a:p>
            <a:pPr algn="l"/>
            <a:r>
              <a:rPr b="1" sz="900">
                <a:solidFill>
                  <a:srgbClr val="475569"/>
                </a:solidFill>
                <a:latin typeface="Segoe UI"/>
              </a:rPr>
              <a:t>제품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5949" y="2215455"/>
            <a:ext cx="1514475" cy="381000"/>
          </a:xfrm>
          <a:prstGeom prst="rect">
            <a:avLst/>
          </a:prstGeom>
          <a:noFill/>
          <a:ln w="25400">
            <a:solidFill>
              <a:srgbClr val="E2E8F0"/>
            </a:solidFill>
          </a:ln>
        </p:spPr>
        <p:txBody>
          <a:bodyPr wrap="square" anchor="t" lIns="114300" rIns="114300" tIns="95250" bIns="95250">
            <a:spAutoFit/>
          </a:bodyPr>
          <a:lstStyle/>
          <a:p>
            <a:pPr algn="ctr"/>
            <a:r>
              <a:rPr b="1" sz="900">
                <a:solidFill>
                  <a:srgbClr val="475569"/>
                </a:solidFill>
                <a:latin typeface="Segoe UI"/>
              </a:rPr>
              <a:t>메모리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2014" y="2215455"/>
            <a:ext cx="1562100" cy="381000"/>
          </a:xfrm>
          <a:prstGeom prst="rect">
            <a:avLst/>
          </a:prstGeom>
          <a:noFill/>
          <a:ln w="25400">
            <a:solidFill>
              <a:srgbClr val="E2E8F0"/>
            </a:solidFill>
          </a:ln>
        </p:spPr>
        <p:txBody>
          <a:bodyPr wrap="square" anchor="t" lIns="114300" rIns="114300" tIns="95250" bIns="95250">
            <a:spAutoFit/>
          </a:bodyPr>
          <a:lstStyle/>
          <a:p>
            <a:pPr algn="ctr"/>
            <a:r>
              <a:rPr b="1" sz="900">
                <a:solidFill>
                  <a:srgbClr val="475569"/>
                </a:solidFill>
                <a:latin typeface="Segoe UI"/>
              </a:rPr>
              <a:t>성능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9442" y="2215455"/>
            <a:ext cx="2209800" cy="381000"/>
          </a:xfrm>
          <a:prstGeom prst="rect">
            <a:avLst/>
          </a:prstGeom>
          <a:noFill/>
          <a:ln w="25400">
            <a:solidFill>
              <a:srgbClr val="E2E8F0"/>
            </a:solidFill>
          </a:ln>
        </p:spPr>
        <p:txBody>
          <a:bodyPr wrap="square" anchor="t" lIns="114300" rIns="114300" tIns="95250" bIns="95250">
            <a:spAutoFit/>
          </a:bodyPr>
          <a:lstStyle/>
          <a:p>
            <a:pPr algn="l"/>
            <a:r>
              <a:rPr b="1" sz="900">
                <a:solidFill>
                  <a:srgbClr val="475569"/>
                </a:solidFill>
                <a:latin typeface="Segoe UI"/>
              </a:rPr>
              <a:t>특화 용도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94150" y="2596455"/>
            <a:ext cx="7264449" cy="585787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8450" y="2729805"/>
            <a:ext cx="40005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/>
              </a:rPr>
              <a:t>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27550" y="2763142"/>
            <a:ext cx="10096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1E293B"/>
                </a:solidFill>
                <a:latin typeface="Segoe UI"/>
              </a:rPr>
              <a:t>Google TPU V6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7550" y="2906017"/>
            <a:ext cx="1009650" cy="1238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Trillium · 6th 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5949" y="2596455"/>
            <a:ext cx="1514475" cy="585787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23825" bIns="123825">
            <a:spAutoFit/>
          </a:bodyPr>
          <a:lstStyle/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HBM3 32GB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1027" y="2763142"/>
            <a:ext cx="9048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D97706"/>
                </a:solidFill>
                <a:latin typeface="Segoe UI"/>
              </a:rPr>
              <a:t>925 TFLOPS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736" y="2915542"/>
            <a:ext cx="1275605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BF16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9442" y="2596455"/>
            <a:ext cx="2209800" cy="585787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23825" bIns="123825">
            <a:spAutoFit/>
          </a:bodyPr>
          <a:lstStyle/>
          <a:p>
            <a:pPr algn="l"/>
            <a:r>
              <a:rPr b="1" sz="900">
                <a:solidFill>
                  <a:srgbClr val="374151"/>
                </a:solidFill>
                <a:latin typeface="Segoe UI"/>
              </a:rPr>
              <a:t>Gemini</a:t>
            </a:r>
            <a:r>
              <a:rPr sz="900">
                <a:solidFill>
                  <a:srgbClr val="374151"/>
                </a:solidFill>
                <a:latin typeface="Segoe UI"/>
              </a:rPr>
              <a:t> 모델 학습 및 추론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94150" y="3182242"/>
            <a:ext cx="7264449" cy="581025"/>
          </a:xfrm>
          <a:prstGeom prst="rect">
            <a:avLst/>
          </a:prstGeom>
          <a:solidFill>
            <a:srgbClr val="FFF7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8450" y="3310830"/>
            <a:ext cx="40005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/>
              </a:rPr>
              <a:t>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7550" y="3344167"/>
            <a:ext cx="13049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1E293B"/>
                </a:solidFill>
                <a:latin typeface="Segoe UI"/>
              </a:rPr>
              <a:t>AWS Trainium2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7550" y="3487042"/>
            <a:ext cx="1304925" cy="1238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Amazon · Annapurna Labs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5949" y="3182242"/>
            <a:ext cx="1514475" cy="581025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23825" bIns="123825">
            <a:spAutoFit/>
          </a:bodyPr>
          <a:lstStyle/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HBM3 96GB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1027" y="3344167"/>
            <a:ext cx="9048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EA580C"/>
                </a:solidFill>
                <a:latin typeface="Segoe UI"/>
              </a:rPr>
              <a:t>650 TFLOPS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736" y="3496567"/>
            <a:ext cx="1275605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BF16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89442" y="3182242"/>
            <a:ext cx="2209800" cy="581025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23825" bIns="123825">
            <a:spAutoFit/>
          </a:bodyPr>
          <a:lstStyle/>
          <a:p>
            <a:pPr algn="l"/>
            <a:r>
              <a:rPr b="1" sz="900">
                <a:solidFill>
                  <a:srgbClr val="374151"/>
                </a:solidFill>
                <a:latin typeface="Segoe UI"/>
              </a:rPr>
              <a:t>딥러닝 훈련</a:t>
            </a:r>
            <a:r>
              <a:rPr sz="900">
                <a:solidFill>
                  <a:srgbClr val="374151"/>
                </a:solidFill>
                <a:latin typeface="Segoe UI"/>
              </a:rPr>
              <a:t> 특화 · 비용 효율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94150" y="3763267"/>
            <a:ext cx="7264449" cy="581025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08450" y="3891855"/>
            <a:ext cx="40005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/>
              </a:rPr>
              <a:t>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27550" y="3925192"/>
            <a:ext cx="8667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1E293B"/>
                </a:solidFill>
                <a:latin typeface="Segoe UI"/>
              </a:rPr>
              <a:t>MS Maia 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27550" y="4068067"/>
            <a:ext cx="866775" cy="1238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Microsoft · Azure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5949" y="3763267"/>
            <a:ext cx="1514475" cy="581025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23825" bIns="123825">
            <a:spAutoFit/>
          </a:bodyPr>
          <a:lstStyle/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HBM2E 64GB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22927" y="3925192"/>
            <a:ext cx="9810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2563EB"/>
                </a:solidFill>
                <a:latin typeface="Segoe UI"/>
              </a:rPr>
              <a:t>~400 TFLOPS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736" y="4077592"/>
            <a:ext cx="1275605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FP16 est.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89442" y="3763267"/>
            <a:ext cx="2209800" cy="581025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23825" bIns="123825">
            <a:spAutoFit/>
          </a:bodyPr>
          <a:lstStyle/>
          <a:p>
            <a:pPr algn="l"/>
            <a:r>
              <a:rPr b="1" sz="900">
                <a:solidFill>
                  <a:srgbClr val="374151"/>
                </a:solidFill>
                <a:latin typeface="Segoe UI"/>
              </a:rPr>
              <a:t>OpenAI</a:t>
            </a:r>
            <a:r>
              <a:rPr sz="900">
                <a:solidFill>
                  <a:srgbClr val="374151"/>
                </a:solidFill>
                <a:latin typeface="Segoe UI"/>
              </a:rPr>
              <a:t> 모델 추론 최적화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94150" y="4344292"/>
            <a:ext cx="7264449" cy="57626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08450" y="4472880"/>
            <a:ext cx="40005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/>
              </a:rPr>
              <a:t>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7550" y="4506217"/>
            <a:ext cx="9048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1E293B"/>
                </a:solidFill>
                <a:latin typeface="Segoe UI"/>
              </a:rPr>
              <a:t>Meta MTIA v2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7550" y="4649092"/>
            <a:ext cx="904875" cy="1238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Meta · 2nd 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5949" y="4344292"/>
            <a:ext cx="1514475" cy="576262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23825" bIns="123825">
            <a:spAutoFit/>
          </a:bodyPr>
          <a:lstStyle/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LPDDR5 32GB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22927" y="4506217"/>
            <a:ext cx="9810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7C3AED"/>
                </a:solidFill>
                <a:latin typeface="Segoe UI"/>
              </a:rPr>
              <a:t>~300 TFLOPS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736" y="4658617"/>
            <a:ext cx="1275605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INT8 est.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89442" y="4344292"/>
            <a:ext cx="2209800" cy="576262"/>
          </a:xfrm>
          <a:prstGeom prst="rect">
            <a:avLst/>
          </a:prstGeom>
          <a:noFill/>
          <a:ln>
            <a:noFill/>
          </a:ln>
        </p:spPr>
        <p:txBody>
          <a:bodyPr wrap="square" anchor="t" lIns="114300" rIns="114300" tIns="123825" bIns="123825">
            <a:spAutoFit/>
          </a:bodyPr>
          <a:lstStyle/>
          <a:p>
            <a:pPr algn="l"/>
            <a:r>
              <a:rPr sz="900">
                <a:solidFill>
                  <a:srgbClr val="374151"/>
                </a:solidFill>
                <a:latin typeface="Segoe UI"/>
              </a:rPr>
              <a:t>추천 알고리즘 · </a:t>
            </a:r>
            <a:r>
              <a:rPr b="1" sz="900">
                <a:solidFill>
                  <a:srgbClr val="374151"/>
                </a:solidFill>
                <a:latin typeface="Segoe UI"/>
              </a:rPr>
              <a:t>추론 최적화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94150" y="5053905"/>
            <a:ext cx="7505223" cy="411360"/>
          </a:xfrm>
          <a:prstGeom prst="roundRect">
            <a:avLst>
              <a:gd name="adj" fmla="val 9261"/>
            </a:avLst>
          </a:prstGeom>
          <a:solidFill>
            <a:srgbClr val="F0FDF4"/>
          </a:solidFill>
          <a:ln w="50800">
            <a:solidFill>
              <a:srgbClr val="16A34A"/>
            </a:solidFill>
          </a:ln>
        </p:spPr>
        <p:txBody>
          <a:bodyPr wrap="square" anchor="ctr" lIns="152400" rIns="152400" tIns="114300" bIns="114300">
            <a:spAutoFit/>
          </a:bodyPr>
          <a:lstStyle/>
          <a:p>
            <a:pPr algn="l"/>
            <a:r>
              <a:rPr sz="900">
                <a:solidFill>
                  <a:srgbClr val="374151"/>
                </a:solidFill>
                <a:latin typeface="Segoe UI"/>
              </a:rPr>
              <a:t>💡 </a:t>
            </a:r>
            <a:r>
              <a:rPr b="1" sz="900">
                <a:solidFill>
                  <a:srgbClr val="374151"/>
                </a:solidFill>
                <a:latin typeface="Segoe UI"/>
              </a:rPr>
              <a:t>공통 전략:</a:t>
            </a:r>
            <a:r>
              <a:rPr sz="900">
                <a:solidFill>
                  <a:srgbClr val="374151"/>
                </a:solidFill>
                <a:latin typeface="Segoe UI"/>
              </a:rPr>
              <a:t> 범용 GPU 의존도 감소 → 자체 실리콘으로 </a:t>
            </a:r>
            <a:r>
              <a:rPr b="1" sz="900">
                <a:solidFill>
                  <a:srgbClr val="374151"/>
                </a:solidFill>
                <a:latin typeface="Segoe UI"/>
              </a:rPr>
              <a:t>TCO(총소유비용) 절감</a:t>
            </a:r>
            <a:r>
              <a:rPr sz="900">
                <a:solidFill>
                  <a:srgbClr val="374151"/>
                </a:solidFill>
                <a:latin typeface="Segoe UI"/>
              </a:rPr>
              <a:t> 및 클라우드 서비스 경쟁력 강화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521940"/>
          </a:xfrm>
          <a:prstGeom prst="rect">
            <a:avLst/>
          </a:prstGeom>
          <a:noFill/>
          <a:ln w="635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3425" y="457200"/>
            <a:ext cx="1125293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0EA5E9"/>
                </a:solidFill>
                <a:latin typeface="Segoe UI"/>
              </a:rPr>
              <a:t>Slide 9 · AI 인프라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657225"/>
            <a:ext cx="1125293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000">
                <a:solidFill>
                  <a:srgbClr val="1E293B"/>
                </a:solidFill>
                <a:latin typeface="Segoe UI"/>
              </a:rPr>
              <a:t>DPU 및 고속 네트워크 기술 — InfiniBand vs Ethernet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45840"/>
            <a:ext cx="11478577" cy="464790"/>
          </a:xfrm>
          <a:prstGeom prst="roundRect">
            <a:avLst>
              <a:gd name="adj" fmla="val 10246"/>
            </a:avLst>
          </a:prstGeom>
          <a:gradFill>
            <a:gsLst>
              <a:gs pos="0">
                <a:srgbClr val="1E293B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</p:spPr>
        <p:txBody>
          <a:bodyPr wrap="square" anchor="ctr" lIns="190500" rIns="190500" tIns="133350" bIns="13335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핵심 메시지 ▶</a:t>
            </a:r>
            <a:r>
              <a:rPr sz="1000">
                <a:solidFill>
                  <a:srgbClr val="FFFFFF"/>
                </a:solidFill>
                <a:latin typeface="Segoe UI"/>
              </a:rPr>
              <a:t> AI DC의 대규모 GPU 클러스터 간 고속 데이터 전송을 위해 </a:t>
            </a:r>
            <a:r>
              <a:rPr b="1" sz="1000">
                <a:solidFill>
                  <a:srgbClr val="FFFFFF"/>
                </a:solidFill>
                <a:latin typeface="Segoe UI"/>
              </a:rPr>
              <a:t>DPU</a:t>
            </a:r>
            <a:r>
              <a:rPr sz="1000">
                <a:solidFill>
                  <a:srgbClr val="FFFFFF"/>
                </a:solidFill>
                <a:latin typeface="Segoe UI"/>
              </a:rPr>
              <a:t>와 </a:t>
            </a:r>
            <a:r>
              <a:rPr b="1" sz="1000">
                <a:solidFill>
                  <a:srgbClr val="FFFFFF"/>
                </a:solidFill>
                <a:latin typeface="Segoe UI"/>
              </a:rPr>
              <a:t>InfiniBand</a:t>
            </a:r>
            <a:r>
              <a:rPr sz="1000">
                <a:solidFill>
                  <a:srgbClr val="FFFFFF"/>
                </a:solidFill>
                <a:latin typeface="Segoe UI"/>
              </a:rPr>
              <a:t>가 핵심 네트워크 기술로 부상하고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939230"/>
            <a:ext cx="3632150" cy="1304925"/>
          </a:xfrm>
          <a:prstGeom prst="roundRect">
            <a:avLst>
              <a:gd name="adj" fmla="val 4379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2120205"/>
            <a:ext cx="3368306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4F46E5"/>
                </a:solidFill>
                <a:latin typeface="Segoe UI"/>
              </a:rPr>
              <a:t>DPU (Data Processing Unit)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4375" y="2420242"/>
            <a:ext cx="76200" cy="76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825" y="2367855"/>
            <a:ext cx="207645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374151"/>
                </a:solidFill>
                <a:latin typeface="Segoe UI"/>
              </a:rPr>
              <a:t>네트워크 가속 · 보안 · 가상화</a:t>
            </a:r>
            <a:r>
              <a:rPr sz="900">
                <a:solidFill>
                  <a:srgbClr val="374151"/>
                </a:solidFill>
                <a:latin typeface="Segoe UI"/>
              </a:rPr>
              <a:t> 전담 처리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4375" y="2677417"/>
            <a:ext cx="76200" cy="76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825" y="2625030"/>
            <a:ext cx="181927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374151"/>
                </a:solidFill>
                <a:latin typeface="Segoe UI"/>
              </a:rPr>
              <a:t>CPU 오프로딩으로 </a:t>
            </a:r>
            <a:r>
              <a:rPr b="1" sz="900">
                <a:solidFill>
                  <a:srgbClr val="374151"/>
                </a:solidFill>
                <a:latin typeface="Segoe UI"/>
              </a:rPr>
              <a:t>연산 효율 향상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375" y="2934592"/>
            <a:ext cx="76200" cy="76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825" y="2882205"/>
            <a:ext cx="195262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374151"/>
                </a:solidFill>
                <a:latin typeface="Segoe UI"/>
              </a:rPr>
              <a:t>Nvidia BlueField 시리즈가 시장 주도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3396555"/>
            <a:ext cx="3632150" cy="3766244"/>
          </a:xfrm>
          <a:prstGeom prst="roundRect">
            <a:avLst>
              <a:gd name="adj" fmla="val 157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375" y="3577530"/>
            <a:ext cx="3368306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4F46E5"/>
                </a:solidFill>
                <a:latin typeface="Segoe UI"/>
              </a:rPr>
              <a:t>Smart NIC 진화 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5" y="3872805"/>
            <a:ext cx="419100" cy="34290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64748B"/>
                </a:solidFill>
                <a:latin typeface="Segoe UI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6300" y="4215705"/>
            <a:ext cx="19050" cy="228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1575" y="3929955"/>
            <a:ext cx="12192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475569"/>
                </a:solidFill>
                <a:latin typeface="Segoe UI"/>
              </a:rPr>
              <a:t>ASIC 기반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1575" y="4110930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고정 기능 하드웨어 가속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375" y="4444305"/>
            <a:ext cx="419100" cy="3429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2563EB"/>
                </a:solidFill>
                <a:latin typeface="Segoe U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6300" y="4787205"/>
            <a:ext cx="19050" cy="228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1575" y="4501455"/>
            <a:ext cx="159067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2563EB"/>
                </a:solidFill>
                <a:latin typeface="Segoe UI"/>
              </a:rPr>
              <a:t>FPGA 기반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1575" y="4682430"/>
            <a:ext cx="15906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프로그래머블 로직 · 유연성 향상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375" y="5015805"/>
            <a:ext cx="419100" cy="342900"/>
          </a:xfrm>
          <a:prstGeom prst="ellipse">
            <a:avLst/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2700000" scaled="0"/>
          </a:gra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1575" y="5072955"/>
            <a:ext cx="184785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SoC 기반 DPU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1575" y="5253930"/>
            <a:ext cx="1847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CPU+네트워크+보안 통합 · 현재 표준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4150" y="1939230"/>
            <a:ext cx="7482382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EA5E9"/>
                </a:solidFill>
                <a:latin typeface="Segoe UI"/>
              </a:rPr>
              <a:t>InfiniBand vs Ethernet 비교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94150" y="2215455"/>
            <a:ext cx="7264449" cy="381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4150" y="2215455"/>
            <a:ext cx="1695450" cy="381000"/>
          </a:xfrm>
          <a:prstGeom prst="rect">
            <a:avLst/>
          </a:prstGeom>
          <a:noFill/>
          <a:ln w="25400">
            <a:solidFill>
              <a:srgbClr val="E2E8F0"/>
            </a:solidFill>
          </a:ln>
        </p:spPr>
        <p:txBody>
          <a:bodyPr wrap="square" anchor="t" lIns="133350" rIns="133350" tIns="95250" bIns="95250">
            <a:spAutoFit/>
          </a:bodyPr>
          <a:lstStyle/>
          <a:p>
            <a:pPr algn="l"/>
            <a:r>
              <a:rPr b="1" sz="900">
                <a:solidFill>
                  <a:srgbClr val="475569"/>
                </a:solidFill>
                <a:latin typeface="Segoe UI"/>
              </a:rPr>
              <a:t>구분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2266" y="2215455"/>
            <a:ext cx="3041332" cy="381000"/>
          </a:xfrm>
          <a:prstGeom prst="rect">
            <a:avLst/>
          </a:prstGeom>
          <a:solidFill>
            <a:srgbClr val="F0FDF4"/>
          </a:solidFill>
          <a:ln w="25400">
            <a:solidFill>
              <a:srgbClr val="E2E8F0"/>
            </a:solidFill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b="1" sz="900">
                <a:solidFill>
                  <a:srgbClr val="15803D"/>
                </a:solidFill>
                <a:latin typeface="Segoe UI"/>
              </a:rPr>
              <a:t>InfiniBand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0162" y="2215455"/>
            <a:ext cx="2845117" cy="381000"/>
          </a:xfrm>
          <a:prstGeom prst="rect">
            <a:avLst/>
          </a:prstGeom>
          <a:solidFill>
            <a:srgbClr val="F0F9FF"/>
          </a:solidFill>
          <a:ln w="25400">
            <a:solidFill>
              <a:srgbClr val="E2E8F0"/>
            </a:solidFill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b="1" sz="900">
                <a:solidFill>
                  <a:srgbClr val="0369A1"/>
                </a:solidFill>
                <a:latin typeface="Segoe UI"/>
              </a:rPr>
              <a:t>Ethernet + RoCE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94150" y="2596455"/>
            <a:ext cx="7264449" cy="528637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4150" y="2596455"/>
            <a:ext cx="1695450" cy="528637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주도 기업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92266" y="2596455"/>
            <a:ext cx="3041332" cy="528637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b="1" sz="900">
                <a:solidFill>
                  <a:srgbClr val="15803D"/>
                </a:solidFill>
                <a:latin typeface="Segoe UI"/>
              </a:rPr>
              <a:t>Nvidia</a:t>
            </a:r>
            <a:r>
              <a:rPr sz="900">
                <a:solidFill>
                  <a:srgbClr val="1E293B"/>
                </a:solidFill>
                <a:latin typeface="Segoe UI"/>
              </a:rPr>
              <a:t> (Mellanox 인수)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0162" y="2596455"/>
            <a:ext cx="2845117" cy="528637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</a:p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08381" y="2739330"/>
            <a:ext cx="8382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0369A1"/>
                </a:solidFill>
                <a:latin typeface="Segoe UI"/>
              </a:rPr>
              <a:t>UEC 컨소시엄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7806" y="2901255"/>
            <a:ext cx="1219200" cy="1238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AMD·Intel·MS·Google 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94150" y="3125092"/>
            <a:ext cx="7264449" cy="381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4150" y="3125092"/>
            <a:ext cx="1695450" cy="381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현재 속도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92266" y="3125092"/>
            <a:ext cx="3041332" cy="381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3240" y="323463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100">
                <a:solidFill>
                  <a:srgbClr val="15803D"/>
                </a:solidFill>
                <a:latin typeface="Segoe UI"/>
              </a:rPr>
              <a:t>800 Gbps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20162" y="3125092"/>
            <a:ext cx="2845117" cy="381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6481" y="323463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100">
                <a:solidFill>
                  <a:srgbClr val="0369A1"/>
                </a:solidFill>
                <a:latin typeface="Segoe UI"/>
              </a:rPr>
              <a:t>400 Gbps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4150" y="3506092"/>
            <a:ext cx="7264449" cy="504825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94150" y="3506092"/>
            <a:ext cx="1695450" cy="5048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목표 속도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92266" y="3506092"/>
            <a:ext cx="3041332" cy="50482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46652" y="3606105"/>
            <a:ext cx="6953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100">
                <a:solidFill>
                  <a:srgbClr val="15803D"/>
                </a:solidFill>
                <a:latin typeface="Segoe UI"/>
              </a:rPr>
              <a:t>3.2 Tbps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5616" y="3768030"/>
            <a:ext cx="274103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'30년 목표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20162" y="3506092"/>
            <a:ext cx="2845117" cy="504825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79744" y="3606105"/>
            <a:ext cx="695325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100">
                <a:solidFill>
                  <a:srgbClr val="0369A1"/>
                </a:solidFill>
                <a:latin typeface="Segoe UI"/>
              </a:rPr>
              <a:t>1.6 Tbps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3512" y="3768030"/>
            <a:ext cx="2547937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'27년 목표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94150" y="4010917"/>
            <a:ext cx="7264449" cy="485775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94150" y="4010917"/>
            <a:ext cx="1695450" cy="48577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지연 시간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92266" y="4010917"/>
            <a:ext cx="3041332" cy="48577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99039" y="4149030"/>
            <a:ext cx="5905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15803D"/>
                </a:solidFill>
                <a:latin typeface="Segoe UI"/>
              </a:rPr>
              <a:t>매우 낮음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5616" y="4291905"/>
            <a:ext cx="274103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~100ns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20162" y="4010917"/>
            <a:ext cx="2845117" cy="485775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55956" y="4149030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900">
                <a:solidFill>
                  <a:srgbClr val="0369A1"/>
                </a:solidFill>
                <a:latin typeface="Segoe UI"/>
              </a:rPr>
              <a:t>낮음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3512" y="4291905"/>
            <a:ext cx="2547937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~1μs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94150" y="4496692"/>
            <a:ext cx="7264449" cy="381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94150" y="4496692"/>
            <a:ext cx="1695450" cy="381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비용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92266" y="4496692"/>
            <a:ext cx="3041332" cy="381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22864" y="4634805"/>
            <a:ext cx="3429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>
                <a:solidFill>
                  <a:srgbClr val="DC2626"/>
                </a:solidFill>
                <a:latin typeface="Segoe UI"/>
              </a:rPr>
              <a:t>높음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20162" y="4496692"/>
            <a:ext cx="2845117" cy="381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79744" y="463480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>
                <a:solidFill>
                  <a:srgbClr val="16A34A"/>
                </a:solidFill>
                <a:latin typeface="Segoe UI"/>
              </a:rPr>
              <a:t>상대적 저렴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94150" y="4877692"/>
            <a:ext cx="1695450" cy="5191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주요 용도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92266" y="4877692"/>
            <a:ext cx="3041332" cy="5191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Segoe UI"/>
              </a:rPr>
              <a:t>AI 학습 클러스터</a:t>
            </a:r>
          </a:p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GPU-to-GPU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20162" y="4877692"/>
            <a:ext cx="2845117" cy="51911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wrap="square" anchor="ctr" lIns="133350" rIns="133350" tIns="95250" bIns="9525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Segoe UI"/>
              </a:rPr>
              <a:t>범용 DC 네트워크</a:t>
            </a:r>
          </a:p>
          <a:p>
            <a:pPr algn="ctr"/>
            <a:r>
              <a:rPr b="1" sz="900">
                <a:solidFill>
                  <a:srgbClr val="1E293B"/>
                </a:solidFill>
                <a:latin typeface="Segoe UI"/>
              </a:rPr>
              <a:t>CPU 오프로드 기술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94150" y="5549205"/>
            <a:ext cx="7264449" cy="1123950"/>
          </a:xfrm>
          <a:prstGeom prst="roundRect">
            <a:avLst>
              <a:gd name="adj" fmla="val 5084"/>
            </a:avLst>
          </a:prstGeom>
          <a:gradFill>
            <a:gsLst>
              <a:gs pos="0">
                <a:srgbClr val="0F172A"/>
              </a:gs>
              <a:gs pos="100000">
                <a:srgbClr val="1E3A5F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5600" y="5720655"/>
            <a:ext cx="712919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7DD3FC"/>
                </a:solidFill>
                <a:latin typeface="Segoe UI"/>
              </a:rPr>
              <a:t>📡 InfiniBand 속도 로드맵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5600" y="6015930"/>
            <a:ext cx="1563588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현재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65600" y="6206430"/>
            <a:ext cx="1563588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4ADE80"/>
                </a:solidFill>
                <a:latin typeface="Segoe UI"/>
              </a:rPr>
              <a:t>800G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65600" y="6377880"/>
            <a:ext cx="1563588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HDR/NDR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52988" y="614928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76200" tIns="0" bIns="0">
            <a:spAutoFit/>
          </a:bodyPr>
          <a:lstStyle/>
          <a:p>
            <a:pPr algn="l"/>
            <a:r>
              <a:rPr sz="1400">
                <a:solidFill>
                  <a:srgbClr val="334155"/>
                </a:solidFill>
                <a:latin typeface="Segoe UI"/>
              </a:rPr>
              <a:t>→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76838" y="6015930"/>
            <a:ext cx="1563737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'26년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76838" y="6206430"/>
            <a:ext cx="1563737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38BDF8"/>
                </a:solidFill>
                <a:latin typeface="Segoe UI"/>
              </a:rPr>
              <a:t>1.6T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76838" y="6377880"/>
            <a:ext cx="1563737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XDR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4375" y="614928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76200" tIns="0" bIns="0">
            <a:spAutoFit/>
          </a:bodyPr>
          <a:lstStyle/>
          <a:p>
            <a:pPr algn="l"/>
            <a:r>
              <a:rPr sz="1400">
                <a:solidFill>
                  <a:srgbClr val="334155"/>
                </a:solidFill>
                <a:latin typeface="Segoe UI"/>
              </a:rPr>
              <a:t>→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88225" y="6015930"/>
            <a:ext cx="1563737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'28년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88225" y="6206430"/>
            <a:ext cx="1563737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A78BFA"/>
                </a:solidFill>
                <a:latin typeface="Segoe UI"/>
              </a:rPr>
              <a:t>2.4T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88225" y="6377880"/>
            <a:ext cx="1563737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GDR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75762" y="614928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76200" tIns="0" bIns="0">
            <a:spAutoFit/>
          </a:bodyPr>
          <a:lstStyle/>
          <a:p>
            <a:pPr algn="l"/>
            <a:r>
              <a:rPr sz="1400">
                <a:solidFill>
                  <a:srgbClr val="334155"/>
                </a:solidFill>
                <a:latin typeface="Segoe UI"/>
              </a:rPr>
              <a:t>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99612" y="5996880"/>
            <a:ext cx="1563737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'30년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99612" y="6187380"/>
            <a:ext cx="1563737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F472B6"/>
                </a:solidFill>
                <a:latin typeface="Segoe UI"/>
              </a:rPr>
              <a:t>3.2T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999612" y="6358830"/>
            <a:ext cx="1563737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목표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565695"/>
          </a:xfrm>
          <a:prstGeom prst="rect">
            <a:avLst/>
          </a:prstGeom>
          <a:noFill/>
          <a:ln w="762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457200"/>
            <a:ext cx="11203876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EA5E9"/>
                </a:solidFill>
                <a:latin typeface="Segoe UI"/>
              </a:rPr>
              <a:t>Slide 10 · AI Memory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657225"/>
            <a:ext cx="11203876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400">
                <a:solidFill>
                  <a:srgbClr val="1E293B"/>
                </a:solidFill>
                <a:latin typeface="Segoe UI"/>
              </a:rPr>
              <a:t>AI Memory 기술 — HBM, CXL, PIM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289595"/>
            <a:ext cx="11125200" cy="533400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1441995"/>
            <a:ext cx="3524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4F46E5"/>
                </a:solidFill>
                <a:latin typeface="Segoe UI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077" y="1441995"/>
            <a:ext cx="1066489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Segoe UI"/>
              </a:rPr>
              <a:t>AI 연산의 폭발적 데이터 처리 수요에 대응하여 </a:t>
            </a:r>
            <a:r>
              <a:rPr b="1" sz="1000">
                <a:solidFill>
                  <a:srgbClr val="4F46E5"/>
                </a:solidFill>
                <a:latin typeface="Segoe UI"/>
              </a:rPr>
              <a:t>HBM·CXL·PIM</a:t>
            </a:r>
            <a:r>
              <a:rPr sz="1000">
                <a:solidFill>
                  <a:srgbClr val="334155"/>
                </a:solidFill>
                <a:latin typeface="Segoe UI"/>
              </a:rPr>
              <a:t> 등 고대역폭·고성능 메모리 기술이 빠르게 진화하고 있으며, 메모리 혁신이 </a:t>
            </a:r>
            <a:r>
              <a:rPr b="1" sz="1000">
                <a:solidFill>
                  <a:srgbClr val="4F46E5"/>
                </a:solidFill>
                <a:latin typeface="Segoe UI"/>
              </a:rPr>
              <a:t>AI Compute Infra의 핵심 경쟁 요소</a:t>
            </a:r>
            <a:r>
              <a:rPr sz="1000">
                <a:solidFill>
                  <a:srgbClr val="334155"/>
                </a:solidFill>
                <a:latin typeface="Segoe UI"/>
              </a:rPr>
              <a:t>로 부상했다.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089695"/>
            <a:ext cx="3594050" cy="3501479"/>
          </a:xfrm>
          <a:prstGeom prst="roundRect">
            <a:avLst>
              <a:gd name="adj" fmla="val 1904"/>
            </a:avLst>
          </a:prstGeom>
          <a:noFill/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2450" y="2108745"/>
            <a:ext cx="3555950" cy="6667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2242095"/>
            <a:ext cx="3309441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C7D2FE"/>
                </a:solidFill>
                <a:latin typeface="Segoe UI"/>
              </a:rPr>
              <a:t>High Bandwidth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2394495"/>
            <a:ext cx="3309441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600">
                <a:solidFill>
                  <a:srgbClr val="FFFFFF"/>
                </a:solidFill>
                <a:latin typeface="Segoe UI"/>
              </a:rPr>
              <a:t>HBM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900" y="2927895"/>
            <a:ext cx="3213050" cy="333375"/>
          </a:xfrm>
          <a:prstGeom prst="roundRect">
            <a:avLst>
              <a:gd name="adj" fmla="val 11428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3004095"/>
            <a:ext cx="3048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Segoe UI"/>
              </a:rPr>
              <a:t>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602" y="3004095"/>
            <a:ext cx="120015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3730A3"/>
                </a:solidFill>
                <a:latin typeface="Segoe UI"/>
              </a:rPr>
              <a:t>D램 수직 적층 (TSV)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3356520"/>
            <a:ext cx="31328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  <a:latin typeface="Segoe UI"/>
              </a:rPr>
              <a:t>GPU 학습 작업에 최적화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3636466"/>
            <a:ext cx="31328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  <a:latin typeface="Segoe UI"/>
              </a:rPr>
              <a:t>SK하이닉스 · 삼성 · Micron 주도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3900" y="4686300"/>
            <a:ext cx="3213050" cy="733425"/>
          </a:xfrm>
          <a:prstGeom prst="roundRect">
            <a:avLst>
              <a:gd name="adj" fmla="val 5194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50" y="4781550"/>
            <a:ext cx="303474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C7D2FE"/>
                </a:solidFill>
                <a:latin typeface="Segoe UI"/>
              </a:rPr>
              <a:t>GB200 탑재 용량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4953000"/>
            <a:ext cx="30347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  <a:latin typeface="Segoe UI"/>
              </a:rPr>
              <a:t>192 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5172075"/>
            <a:ext cx="303474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A5B4FC"/>
                </a:solidFill>
                <a:latin typeface="Segoe UI"/>
              </a:rPr>
              <a:t>HBM3E × 8개 (24GB each)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8900" y="2089695"/>
            <a:ext cx="3594050" cy="3501479"/>
          </a:xfrm>
          <a:prstGeom prst="roundRect">
            <a:avLst>
              <a:gd name="adj" fmla="val 1904"/>
            </a:avLst>
          </a:prstGeom>
          <a:noFill/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7950" y="2108745"/>
            <a:ext cx="3555950" cy="6667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9400" y="2242095"/>
            <a:ext cx="3309441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BAE6FD"/>
                </a:solidFill>
                <a:latin typeface="Segoe UI"/>
              </a:rPr>
              <a:t>Compute Express Link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9400" y="2394495"/>
            <a:ext cx="3309441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600">
                <a:solidFill>
                  <a:srgbClr val="FFFFFF"/>
                </a:solidFill>
                <a:latin typeface="Segoe UI"/>
              </a:rPr>
              <a:t>CXL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9400" y="2927895"/>
            <a:ext cx="3213050" cy="333375"/>
          </a:xfrm>
          <a:prstGeom prst="roundRect">
            <a:avLst>
              <a:gd name="adj" fmla="val 11428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3700" y="3004095"/>
            <a:ext cx="3048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Segoe UI"/>
              </a:rPr>
              <a:t>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0102" y="3004095"/>
            <a:ext cx="165735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0369A1"/>
                </a:solidFill>
                <a:latin typeface="Segoe UI"/>
              </a:rPr>
              <a:t>PCIe 기반 Memory Pooling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0850" y="3356520"/>
            <a:ext cx="31328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  <a:latin typeface="Segoe UI"/>
              </a:rPr>
              <a:t>CPU/GPU 간 효율적 메모리 공유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0850" y="3636466"/>
            <a:ext cx="31328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  <a:latin typeface="Segoe UI"/>
              </a:rPr>
              <a:t>메모리 풀 동적 확장 가능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9400" y="4733925"/>
            <a:ext cx="3213050" cy="685800"/>
          </a:xfrm>
          <a:prstGeom prst="roundRect">
            <a:avLst>
              <a:gd name="adj" fmla="val 5555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2750" y="4829175"/>
            <a:ext cx="303474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BAE6FD"/>
                </a:solidFill>
                <a:latin typeface="Segoe UI"/>
              </a:rPr>
              <a:t>핵심 장점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2750" y="5000625"/>
            <a:ext cx="303474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Segoe UI"/>
              </a:rPr>
              <a:t>Memory Pooling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2750" y="5172075"/>
            <a:ext cx="303474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7DD3FC"/>
                </a:solidFill>
                <a:latin typeface="Segoe UI"/>
              </a:rPr>
              <a:t>이기종 프로세서 간 공유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64400" y="2089695"/>
            <a:ext cx="3594199" cy="3501479"/>
          </a:xfrm>
          <a:prstGeom prst="roundRect">
            <a:avLst>
              <a:gd name="adj" fmla="val 1904"/>
            </a:avLst>
          </a:prstGeom>
          <a:noFill/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83450" y="2108745"/>
            <a:ext cx="3556099" cy="6667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54900" y="2242095"/>
            <a:ext cx="3309594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DDD6FE"/>
                </a:solidFill>
                <a:latin typeface="Segoe UI"/>
              </a:rPr>
              <a:t>Processing-In-Memory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4900" y="2394495"/>
            <a:ext cx="3309594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600">
                <a:solidFill>
                  <a:srgbClr val="FFFFFF"/>
                </a:solidFill>
                <a:latin typeface="Segoe UI"/>
              </a:rPr>
              <a:t>PIM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54900" y="2927895"/>
            <a:ext cx="3213199" cy="333375"/>
          </a:xfrm>
          <a:prstGeom prst="roundRect">
            <a:avLst>
              <a:gd name="adj" fmla="val 11428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9200" y="3004095"/>
            <a:ext cx="3048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Segoe UI"/>
              </a:rPr>
              <a:t>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35603" y="3004095"/>
            <a:ext cx="147637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B21B6"/>
                </a:solidFill>
                <a:latin typeface="Segoe UI"/>
              </a:rPr>
              <a:t>메모리 내부 연산 프로세서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26350" y="3356520"/>
            <a:ext cx="3133001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  <a:latin typeface="Segoe UI"/>
              </a:rPr>
              <a:t>폰노이만 구조 한계 극복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26350" y="3636466"/>
            <a:ext cx="3133001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  <a:latin typeface="Segoe UI"/>
              </a:rPr>
              <a:t>데이터 이동 병목 제거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54900" y="4733925"/>
            <a:ext cx="3213199" cy="685800"/>
          </a:xfrm>
          <a:prstGeom prst="roundRect">
            <a:avLst>
              <a:gd name="adj" fmla="val 5555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8250" y="4829175"/>
            <a:ext cx="3034893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DDD6FE"/>
                </a:solidFill>
                <a:latin typeface="Segoe UI"/>
              </a:rPr>
              <a:t>혁신 포인트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8250" y="5000625"/>
            <a:ext cx="3034893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Segoe UI"/>
              </a:rPr>
              <a:t>In-Memory Compute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8250" y="5172075"/>
            <a:ext cx="3034893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C4B5FD"/>
                </a:solidFill>
                <a:latin typeface="Segoe UI"/>
              </a:rPr>
              <a:t>차세대 AI 가속 아키텍처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3400" y="5857875"/>
            <a:ext cx="11125200" cy="1304925"/>
          </a:xfrm>
          <a:prstGeom prst="roundRect">
            <a:avLst>
              <a:gd name="adj" fmla="val 4379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1525" y="6419850"/>
            <a:ext cx="92392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1E293B"/>
                </a:solidFill>
                <a:latin typeface="Segoe UI"/>
              </a:rPr>
              <a:t>HBM 적층 구조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82824" y="6019800"/>
            <a:ext cx="571500" cy="11430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82824" y="6162675"/>
            <a:ext cx="571500" cy="11430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82824" y="6305550"/>
            <a:ext cx="571500" cy="11430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882824" y="6448425"/>
            <a:ext cx="571500" cy="11430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882824" y="6591300"/>
            <a:ext cx="571500" cy="133350"/>
          </a:xfrm>
          <a:prstGeom prst="roundRect">
            <a:avLst>
              <a:gd name="adj" fmla="val 10714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82824" y="6791325"/>
            <a:ext cx="6477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DRAM ×4</a:t>
            </a:r>
          </a:p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+Logic Die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92424" y="6257925"/>
            <a:ext cx="19050" cy="571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49574" y="6635353"/>
            <a:ext cx="2073175" cy="365521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4F46E5"/>
                </a:solidFill>
                <a:latin typeface="Segoe UI"/>
              </a:rPr>
              <a:t>TSV (Through-Silicon Via)</a:t>
            </a:r>
            <a:r>
              <a:rPr sz="900">
                <a:solidFill>
                  <a:srgbClr val="475569"/>
                </a:solidFill>
                <a:latin typeface="Segoe UI"/>
              </a:rPr>
              <a:t>로 수직 연결</a:t>
            </a:r>
          </a:p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→ 초고속 데이터 전송 + 소형화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53675" y="6205537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Segoe UI"/>
              </a:rPr>
              <a:t>HBM3E 대역폭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53675" y="6396037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2100">
                <a:solidFill>
                  <a:srgbClr val="4F46E5"/>
                </a:solidFill>
                <a:latin typeface="Segoe UI"/>
              </a:rPr>
              <a:t>1.2 TB/s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53675" y="6700837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>
                <a:solidFill>
                  <a:srgbClr val="94A3B8"/>
                </a:solidFill>
                <a:latin typeface="Segoe UI"/>
              </a:rPr>
              <a:t>per stack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565695"/>
          </a:xfrm>
          <a:prstGeom prst="rect">
            <a:avLst/>
          </a:prstGeom>
          <a:noFill/>
          <a:ln w="762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457200"/>
            <a:ext cx="11203876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Slide 11 · AI Storage &amp;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657225"/>
            <a:ext cx="11203876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400">
                <a:solidFill>
                  <a:srgbClr val="1E293B"/>
                </a:solidFill>
                <a:latin typeface="Segoe UI"/>
              </a:rPr>
              <a:t>AI Storage 및 Computer Bus 기술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270545"/>
            <a:ext cx="11125200" cy="533400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1422945"/>
            <a:ext cx="3524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0EA5E9"/>
                </a:solidFill>
                <a:latin typeface="Segoe UI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077" y="1422945"/>
            <a:ext cx="770143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Segoe UI"/>
              </a:rPr>
              <a:t>AI DC의 대용량 데이터 처리를 위해 </a:t>
            </a:r>
            <a:r>
              <a:rPr b="1" sz="1000">
                <a:solidFill>
                  <a:srgbClr val="0EA5E9"/>
                </a:solidFill>
                <a:latin typeface="Segoe UI"/>
              </a:rPr>
              <a:t>QLC SSD 기반 고속 스토리지</a:t>
            </a:r>
            <a:r>
              <a:rPr sz="1000">
                <a:solidFill>
                  <a:srgbClr val="334155"/>
                </a:solidFill>
                <a:latin typeface="Segoe UI"/>
              </a:rPr>
              <a:t>와 </a:t>
            </a:r>
            <a:r>
              <a:rPr b="1" sz="1000">
                <a:solidFill>
                  <a:srgbClr val="4F46E5"/>
                </a:solidFill>
                <a:latin typeface="Segoe UI"/>
              </a:rPr>
              <a:t>NVLink 등 GPU 간 고속 연결 기술</a:t>
            </a:r>
            <a:r>
              <a:rPr sz="1000">
                <a:solidFill>
                  <a:srgbClr val="334155"/>
                </a:solidFill>
                <a:latin typeface="Segoe UI"/>
              </a:rPr>
              <a:t>이 필수 인프라로 자리잡았다.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051595"/>
            <a:ext cx="5467350" cy="457200"/>
          </a:xfrm>
          <a:prstGeom prst="rect">
            <a:avLst/>
          </a:prstGeom>
          <a:noFill/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2051595"/>
            <a:ext cx="419100" cy="342900"/>
          </a:xfrm>
          <a:prstGeom prst="roundRect">
            <a:avLst>
              <a:gd name="adj" fmla="val 11111"/>
            </a:avLst>
          </a:prstGeom>
          <a:solidFill>
            <a:srgbClr val="0EA5E9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/>
              </a:rP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2123033"/>
            <a:ext cx="2057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400">
                <a:solidFill>
                  <a:srgbClr val="1E293B"/>
                </a:solidFill>
                <a:latin typeface="Segoe UI"/>
              </a:rPr>
              <a:t>Enterprise SSD 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2642145"/>
            <a:ext cx="5467350" cy="1000125"/>
          </a:xfrm>
          <a:prstGeom prst="roundRect">
            <a:avLst>
              <a:gd name="adj" fmla="val 4761"/>
            </a:avLst>
          </a:prstGeom>
          <a:solidFill>
            <a:srgbClr val="F0F9FF"/>
          </a:solidFill>
          <a:ln w="508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2775495"/>
            <a:ext cx="5278183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0369A1"/>
                </a:solidFill>
                <a:latin typeface="Segoe UI"/>
              </a:rPr>
              <a:t>QLC NAND (4 bit/Cell)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965995"/>
            <a:ext cx="12192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0EA5E9"/>
                </a:solidFill>
                <a:latin typeface="Segoe UI"/>
              </a:rPr>
              <a:t>61.44 TB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8062" y="3061245"/>
            <a:ext cx="123825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</a:rPr>
              <a:t>최대 용량 (단일 SSD)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3327945"/>
            <a:ext cx="5278183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  <a:latin typeface="Segoe UI"/>
              </a:rPr>
              <a:t>GPU Direct Storage 지원으로 CPU 우회 직접 전송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3775620"/>
            <a:ext cx="5467350" cy="2190750"/>
          </a:xfrm>
          <a:prstGeom prst="roundRect">
            <a:avLst>
              <a:gd name="adj" fmla="val 217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3918495"/>
            <a:ext cx="529780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1E293B"/>
                </a:solidFill>
                <a:latin typeface="Segoe UI"/>
              </a:rPr>
              <a:t>SSD 신뢰성 핵심 기술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5325" y="4194720"/>
            <a:ext cx="5143500" cy="50482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150" y="4356645"/>
            <a:ext cx="3048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Segoe UI"/>
              </a:rPr>
              <a:t>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602" y="4280445"/>
            <a:ext cx="17145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Segoe UI"/>
              </a:rPr>
              <a:t>PLP (전력손실보호)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602" y="4461420"/>
            <a:ext cx="17145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갑작스러운 전원 차단 시 데이터 보호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5325" y="4775745"/>
            <a:ext cx="5143500" cy="46672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150" y="4918620"/>
            <a:ext cx="3048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Segoe UI"/>
              </a:rPr>
              <a:t>🌡️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602" y="4861470"/>
            <a:ext cx="17430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Segoe UI"/>
              </a:rPr>
              <a:t>Thermal Throttling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602" y="5004345"/>
            <a:ext cx="17430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과열 시 자동 성능 조절로 안정성 확보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5325" y="5318670"/>
            <a:ext cx="5143500" cy="50482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150" y="5480595"/>
            <a:ext cx="3048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Segoe UI"/>
              </a:rPr>
              <a:t>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602" y="5404395"/>
            <a:ext cx="17145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Segoe UI"/>
              </a:rPr>
              <a:t>Telemetry 원격 모니터링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602" y="5585370"/>
            <a:ext cx="17145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실시간 상태 수집 및 예방적 유지보수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1250" y="2051595"/>
            <a:ext cx="5467350" cy="457200"/>
          </a:xfrm>
          <a:prstGeom prst="rect">
            <a:avLst/>
          </a:prstGeom>
          <a:noFill/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1250" y="2051595"/>
            <a:ext cx="419100" cy="34290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/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099220"/>
            <a:ext cx="19431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400">
                <a:solidFill>
                  <a:srgbClr val="1E293B"/>
                </a:solidFill>
                <a:latin typeface="Segoe UI"/>
              </a:rPr>
              <a:t>GPU 고속 연결 기술 비교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1250" y="2642145"/>
            <a:ext cx="5467350" cy="1476375"/>
          </a:xfrm>
          <a:prstGeom prst="roundRect">
            <a:avLst>
              <a:gd name="adj" fmla="val 3225"/>
            </a:avLst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00775" y="2651670"/>
            <a:ext cx="5448300" cy="3429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0775" y="2651670"/>
            <a:ext cx="1800225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133350" rIns="133350" tIns="95250" bIns="95250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  <a:latin typeface="Segoe UI"/>
              </a:rPr>
              <a:t>항목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2572" y="2651670"/>
            <a:ext cx="1800225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133350" rIns="133350" tIns="95250" bIns="95250">
            <a:spAutoFit/>
          </a:bodyPr>
          <a:lstStyle/>
          <a:p>
            <a:pPr algn="ctr"/>
            <a:r>
              <a:rPr b="1" sz="900">
                <a:solidFill>
                  <a:srgbClr val="A5B4FC"/>
                </a:solidFill>
                <a:latin typeface="Segoe UI"/>
              </a:rPr>
              <a:t>PCIe 5.0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6694" y="2651670"/>
            <a:ext cx="2257425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133350" rIns="133350" tIns="95250" bIns="95250">
            <a:spAutoFit/>
          </a:bodyPr>
          <a:lstStyle/>
          <a:p>
            <a:pPr algn="ctr"/>
            <a:r>
              <a:rPr b="1" sz="900">
                <a:solidFill>
                  <a:srgbClr val="6EE7B7"/>
                </a:solidFill>
                <a:latin typeface="Segoe UI"/>
              </a:rPr>
              <a:t>NVLink (Nvidia)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0775" y="2994570"/>
            <a:ext cx="5448300" cy="371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0775" y="2994570"/>
            <a:ext cx="1800225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133350" rIns="133350" tIns="95250" bIns="9525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</a:rPr>
              <a:t>최대 대역폭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2572" y="2994570"/>
            <a:ext cx="1800225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133350" rIns="133350" tIns="95250" bIns="95250">
            <a:spAutoFit/>
          </a:bodyPr>
          <a:lstStyle/>
          <a:p>
            <a:pPr algn="ctr"/>
            <a:r>
              <a:rPr b="1" sz="1000">
                <a:solidFill>
                  <a:srgbClr val="4F46E5"/>
                </a:solidFill>
                <a:latin typeface="Segoe UI"/>
              </a:rPr>
              <a:t>128 GB/s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6694" y="2994570"/>
            <a:ext cx="2257425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133350" rIns="133350" tIns="95250" bIns="95250">
            <a:spAutoFit/>
          </a:bodyPr>
          <a:lstStyle/>
          <a:p>
            <a:pPr algn="ctr"/>
            <a:r>
              <a:rPr b="1" sz="1000">
                <a:solidFill>
                  <a:srgbClr val="059669"/>
                </a:solidFill>
                <a:latin typeface="Segoe UI"/>
              </a:rPr>
              <a:t>900 GB/s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00775" y="3366045"/>
            <a:ext cx="5448300" cy="3714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00775" y="3366045"/>
            <a:ext cx="1800225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133350" rIns="133350" tIns="95250" bIns="9525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</a:rPr>
              <a:t>연결 방식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42572" y="3366045"/>
            <a:ext cx="1800225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133350" rIns="133350" tIns="95250" bIns="95250">
            <a:spAutoFit/>
          </a:bodyPr>
          <a:lstStyle/>
          <a:p>
            <a:pPr algn="ctr"/>
            <a:r>
              <a:rPr sz="1000">
                <a:solidFill>
                  <a:srgbClr val="475569"/>
                </a:solidFill>
                <a:latin typeface="Segoe UI"/>
              </a:rPr>
              <a:t>Hierarchy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6694" y="3366045"/>
            <a:ext cx="2257425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133350" rIns="133350" tIns="95250" bIns="95250">
            <a:spAutoFit/>
          </a:bodyPr>
          <a:lstStyle/>
          <a:p>
            <a:pPr algn="ctr"/>
            <a:r>
              <a:rPr sz="1000">
                <a:solidFill>
                  <a:srgbClr val="475569"/>
                </a:solidFill>
                <a:latin typeface="Segoe UI"/>
              </a:rPr>
              <a:t>Full-Mesh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00775" y="3737520"/>
            <a:ext cx="5448300" cy="371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00775" y="3737520"/>
            <a:ext cx="1800225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133350" rIns="133350" tIns="95250" bIns="9525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</a:rPr>
              <a:t>표준 여부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42572" y="3737520"/>
            <a:ext cx="1800225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133350" rIns="133350" tIns="95250" bIns="95250">
            <a:spAutoFit/>
          </a:bodyPr>
          <a:lstStyle/>
          <a:p>
            <a:pPr algn="ctr"/>
            <a:r>
              <a:rPr sz="1000">
                <a:solidFill>
                  <a:srgbClr val="475569"/>
                </a:solidFill>
                <a:latin typeface="Segoe UI"/>
              </a:rPr>
              <a:t>개방형 표준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6694" y="3737520"/>
            <a:ext cx="2257425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133350" rIns="133350" tIns="95250" bIns="95250">
            <a:spAutoFit/>
          </a:bodyPr>
          <a:lstStyle/>
          <a:p>
            <a:pPr algn="ctr"/>
            <a:r>
              <a:rPr sz="1000">
                <a:solidFill>
                  <a:srgbClr val="475569"/>
                </a:solidFill>
                <a:latin typeface="Segoe UI"/>
              </a:rPr>
              <a:t>Nvidia 전용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1250" y="4251870"/>
            <a:ext cx="5467350" cy="1057275"/>
          </a:xfrm>
          <a:prstGeom prst="roundRect">
            <a:avLst>
              <a:gd name="adj" fmla="val 4504"/>
            </a:avLst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2700" y="4385220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C7D2FE"/>
                </a:solidFill>
                <a:latin typeface="Segoe UI"/>
              </a:rPr>
              <a:t>NVLink vs PCIe 속도 차이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2700" y="4575720"/>
            <a:ext cx="1333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Segoe UI"/>
              </a:rPr>
              <a:t>7× 이상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2700" y="5013870"/>
            <a:ext cx="13335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BAE6FD"/>
                </a:solidFill>
                <a:latin typeface="Segoe UI"/>
              </a:rPr>
              <a:t>빠른 GPU 간 통신 속도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83478" y="4437608"/>
            <a:ext cx="762000" cy="133350"/>
          </a:xfrm>
          <a:prstGeom prst="roundRect">
            <a:avLst>
              <a:gd name="adj" fmla="val 14285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39425" y="4628108"/>
            <a:ext cx="923925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>
                <a:solidFill>
                  <a:srgbClr val="A5F3FC"/>
                </a:solidFill>
                <a:latin typeface="Segoe UI"/>
              </a:rPr>
              <a:t>NVLink 900 GB/s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83478" y="4818608"/>
            <a:ext cx="114300" cy="133350"/>
          </a:xfrm>
          <a:prstGeom prst="roundRect">
            <a:avLst>
              <a:gd name="adj" fmla="val 16666"/>
            </a:avLst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39425" y="5009108"/>
            <a:ext cx="923925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>
                <a:solidFill>
                  <a:srgbClr val="A5F3FC"/>
                </a:solidFill>
                <a:latin typeface="Segoe UI"/>
              </a:rPr>
              <a:t>PCIe 128 GB/s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91250" y="5442495"/>
            <a:ext cx="5467350" cy="649485"/>
          </a:xfrm>
          <a:prstGeom prst="roundRect">
            <a:avLst>
              <a:gd name="adj" fmla="val 7332"/>
            </a:avLst>
          </a:prstGeom>
          <a:solidFill>
            <a:srgbClr val="FFFBEB"/>
          </a:solidFill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81750" y="5571083"/>
            <a:ext cx="2857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Segoe UI"/>
              </a:rPr>
              <a:t>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24339" y="5556795"/>
            <a:ext cx="191452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92400E"/>
                </a:solidFill>
                <a:latin typeface="Segoe UI"/>
              </a:rPr>
              <a:t>UALink — 개방형 GPU 연결 표준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81750" y="5794920"/>
            <a:ext cx="5278183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78350F"/>
                </a:solidFill>
                <a:latin typeface="Segoe UI"/>
              </a:rPr>
              <a:t>Intel · AMD · Google · MS 등 참여 · 최대 </a:t>
            </a:r>
            <a:r>
              <a:rPr b="1" sz="900">
                <a:solidFill>
                  <a:srgbClr val="78350F"/>
                </a:solidFill>
                <a:latin typeface="Segoe UI"/>
              </a:rPr>
              <a:t>GPU 1,024개</a:t>
            </a:r>
            <a:r>
              <a:rPr sz="900">
                <a:solidFill>
                  <a:srgbClr val="78350F"/>
                </a:solidFill>
                <a:latin typeface="Segoe UI"/>
              </a:rPr>
              <a:t> 연결 지원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565695"/>
          </a:xfrm>
          <a:prstGeom prst="rect">
            <a:avLst/>
          </a:prstGeom>
          <a:noFill/>
          <a:ln w="762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457200"/>
            <a:ext cx="11203876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EA5E9"/>
                </a:solidFill>
                <a:latin typeface="Segoe UI"/>
              </a:rPr>
              <a:t>Slide 12 · AI Server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657225"/>
            <a:ext cx="11203876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400">
                <a:solidFill>
                  <a:srgbClr val="1E293B"/>
                </a:solidFill>
                <a:latin typeface="Segoe UI"/>
              </a:rPr>
              <a:t>AI 서버 시스템 구성 및 주요 Vendor 제품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270545"/>
            <a:ext cx="11125200" cy="533400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1422945"/>
            <a:ext cx="3524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4F46E5"/>
                </a:solidFill>
                <a:latin typeface="Segoe UI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077" y="1422945"/>
            <a:ext cx="8927782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Segoe UI"/>
              </a:rPr>
              <a:t>AI 서버는 </a:t>
            </a:r>
            <a:r>
              <a:rPr b="1" sz="1000">
                <a:solidFill>
                  <a:srgbClr val="4F46E5"/>
                </a:solidFill>
                <a:latin typeface="Segoe UI"/>
              </a:rPr>
              <a:t>학습용(고성능 GPU 4~8장) · 추론용(중급 GPU) · Edge용</a:t>
            </a:r>
            <a:r>
              <a:rPr sz="1000">
                <a:solidFill>
                  <a:srgbClr val="334155"/>
                </a:solidFill>
                <a:latin typeface="Segoe UI"/>
              </a:rPr>
              <a:t>으로 목적에 따라 구분되며, SMCI · Dell · Gigabyte 등 다양한 제조사가 경쟁하고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051595"/>
            <a:ext cx="11125200" cy="2362200"/>
          </a:xfrm>
          <a:prstGeom prst="roundRect">
            <a:avLst>
              <a:gd name="adj" fmla="val 2822"/>
            </a:avLst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1975" y="2061120"/>
            <a:ext cx="11087100" cy="4286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975" y="2061120"/>
            <a:ext cx="20955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 lIns="171450" rIns="171450" tIns="133350" bIns="133350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  <a:latin typeface="Segoe UI"/>
              </a:rPr>
              <a:t>서버 유형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7611" y="2061120"/>
            <a:ext cx="20955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 lIns="171450" rIns="171450" tIns="133350" bIns="133350">
            <a:spAutoFit/>
          </a:bodyPr>
          <a:lstStyle/>
          <a:p>
            <a:pPr algn="l"/>
            <a:r>
              <a:rPr b="1" sz="900">
                <a:solidFill>
                  <a:srgbClr val="A5B4FC"/>
                </a:solidFill>
                <a:latin typeface="Segoe UI"/>
              </a:rPr>
              <a:t>GPU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9761" y="2061120"/>
            <a:ext cx="2466975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 lIns="171450" rIns="171450" tIns="133350" bIns="133350">
            <a:spAutoFit/>
          </a:bodyPr>
          <a:lstStyle/>
          <a:p>
            <a:pPr algn="l"/>
            <a:r>
              <a:rPr b="1" sz="900">
                <a:solidFill>
                  <a:srgbClr val="A5B4FC"/>
                </a:solidFill>
                <a:latin typeface="Segoe UI"/>
              </a:rPr>
              <a:t>네트워킹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9516" y="2061120"/>
            <a:ext cx="2894171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 lIns="171450" rIns="171450" tIns="133350" bIns="133350">
            <a:spAutoFit/>
          </a:bodyPr>
          <a:lstStyle/>
          <a:p>
            <a:pPr algn="l"/>
            <a:r>
              <a:rPr b="1" sz="900">
                <a:solidFill>
                  <a:srgbClr val="A5B4FC"/>
                </a:solidFill>
                <a:latin typeface="Segoe UI"/>
              </a:rPr>
              <a:t>주요 용도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98967" y="2061120"/>
            <a:ext cx="21907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 lIns="171450" rIns="171450" tIns="133350" bIns="133350">
            <a:spAutoFit/>
          </a:bodyPr>
          <a:lstStyle/>
          <a:p>
            <a:pPr algn="l"/>
            <a:r>
              <a:rPr b="1" sz="900">
                <a:solidFill>
                  <a:srgbClr val="A5B4FC"/>
                </a:solidFill>
                <a:latin typeface="Segoe UI"/>
              </a:rPr>
              <a:t>대표 제품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1975" y="2489745"/>
            <a:ext cx="11087100" cy="638175"/>
          </a:xfrm>
          <a:prstGeom prst="rect">
            <a:avLst/>
          </a:prstGeom>
          <a:solidFill>
            <a:srgbClr val="EEF2FF"/>
          </a:solidFill>
          <a:ln w="508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475" y="2689770"/>
            <a:ext cx="794742" cy="238125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Segoe UI"/>
              </a:rPr>
              <a:t>🧠 학습용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9061" y="2623095"/>
            <a:ext cx="16764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>
                <a:solidFill>
                  <a:srgbClr val="4F46E5"/>
                </a:solidFill>
                <a:latin typeface="Segoe UI"/>
              </a:rPr>
              <a:t>H100 × 8장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9061" y="284217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고성능 GPU 풀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1211" y="2651670"/>
            <a:ext cx="206305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Segoe UI"/>
              </a:rPr>
              <a:t>NVLink + InfiniBand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1211" y="2813595"/>
            <a:ext cx="206305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고속 GPU 간 통신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9516" y="2489745"/>
            <a:ext cx="2894171" cy="638175"/>
          </a:xfrm>
          <a:prstGeom prst="rect">
            <a:avLst/>
          </a:prstGeom>
          <a:noFill/>
          <a:ln>
            <a:noFill/>
          </a:ln>
        </p:spPr>
        <p:txBody>
          <a:bodyPr wrap="square" anchor="t" lIns="171450" rIns="171450" tIns="133350" bIns="133350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  <a:latin typeface="Segoe UI"/>
              </a:rPr>
              <a:t>LLM 학습, 대규모 모델 훈련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0417" y="2685008"/>
            <a:ext cx="1783407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1E293B"/>
                </a:solidFill>
                <a:latin typeface="Segoe UI"/>
              </a:rPr>
              <a:t>SMCI SYS-821GE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0417" y="2818358"/>
            <a:ext cx="1783407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Dell XE9680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1975" y="3127920"/>
            <a:ext cx="11087100" cy="638175"/>
          </a:xfrm>
          <a:prstGeom prst="rect">
            <a:avLst/>
          </a:prstGeom>
          <a:solidFill>
            <a:srgbClr val="F0F9FF"/>
          </a:solidFill>
          <a:ln w="508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475" y="3327945"/>
            <a:ext cx="794742" cy="238125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Segoe UI"/>
              </a:rPr>
              <a:t>⚡ 추론용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9061" y="3261270"/>
            <a:ext cx="167640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>
                <a:solidFill>
                  <a:srgbClr val="0EA5E9"/>
                </a:solidFill>
                <a:latin typeface="Segoe UI"/>
              </a:rPr>
              <a:t>중급 GPU 탑재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9061" y="3480345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비용 효율 최적화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1211" y="3270795"/>
            <a:ext cx="206305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Segoe UI"/>
              </a:rPr>
              <a:t>Arm 기반 CPU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1211" y="3470820"/>
            <a:ext cx="206305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전력 효율 우선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9516" y="3127920"/>
            <a:ext cx="2894171" cy="638175"/>
          </a:xfrm>
          <a:prstGeom prst="rect">
            <a:avLst/>
          </a:prstGeom>
          <a:noFill/>
          <a:ln>
            <a:noFill/>
          </a:ln>
        </p:spPr>
        <p:txBody>
          <a:bodyPr wrap="square" anchor="t" lIns="171450" rIns="171450" tIns="133350" bIns="133350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  <a:latin typeface="Segoe UI"/>
              </a:rPr>
              <a:t>실시간 추론, 서비스 배포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70417" y="3323183"/>
            <a:ext cx="1783407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1E293B"/>
                </a:solidFill>
                <a:latin typeface="Segoe UI"/>
              </a:rPr>
              <a:t>Gigabyte G-Series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0417" y="3456533"/>
            <a:ext cx="1783407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Dell PowerEdge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1975" y="3766095"/>
            <a:ext cx="11087100" cy="638175"/>
          </a:xfrm>
          <a:prstGeom prst="rect">
            <a:avLst/>
          </a:prstGeom>
          <a:solidFill>
            <a:srgbClr val="F0FDF4"/>
          </a:solidFill>
          <a:ln w="508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475" y="3980408"/>
            <a:ext cx="961876" cy="209550"/>
          </a:xfrm>
          <a:prstGeom prst="roundRect">
            <a:avLst>
              <a:gd name="adj" fmla="val 45454"/>
            </a:avLst>
          </a:prstGeom>
          <a:solidFill>
            <a:srgbClr val="10B981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Segoe UI"/>
              </a:rPr>
              <a:t>📡 Edge/IoT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9061" y="3899445"/>
            <a:ext cx="1695450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>
                <a:solidFill>
                  <a:srgbClr val="059669"/>
                </a:solidFill>
                <a:latin typeface="Segoe UI"/>
              </a:rPr>
              <a:t>이전 세대 GPU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29061" y="411852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소형 폼팩터 (2U)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91211" y="3908970"/>
            <a:ext cx="206305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Segoe UI"/>
              </a:rPr>
              <a:t>표준 이더넷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91211" y="4108995"/>
            <a:ext cx="206305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저지연 엣지 연결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9516" y="3766095"/>
            <a:ext cx="2894171" cy="638175"/>
          </a:xfrm>
          <a:prstGeom prst="rect">
            <a:avLst/>
          </a:prstGeom>
          <a:noFill/>
          <a:ln>
            <a:noFill/>
          </a:ln>
        </p:spPr>
        <p:txBody>
          <a:bodyPr wrap="square" anchor="t" lIns="171450" rIns="171450" tIns="133350" bIns="133350">
            <a:spAutoFit/>
          </a:bodyPr>
          <a:lstStyle/>
          <a:p>
            <a:pPr algn="l"/>
            <a:r>
              <a:rPr sz="1000">
                <a:solidFill>
                  <a:srgbClr val="475569"/>
                </a:solidFill>
                <a:latin typeface="Segoe UI"/>
              </a:rPr>
              <a:t>Telco 5G Core / Edge 배포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0417" y="3942308"/>
            <a:ext cx="1783407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1E293B"/>
                </a:solidFill>
                <a:latin typeface="Segoe UI"/>
              </a:rPr>
              <a:t>SMCI E-Series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0417" y="4075658"/>
            <a:ext cx="1783407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2U 소형 폼팩터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3400" y="4585245"/>
            <a:ext cx="11125200" cy="1085850"/>
          </a:xfrm>
          <a:prstGeom prst="roundRect">
            <a:avLst>
              <a:gd name="adj" fmla="val 614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" y="4861470"/>
            <a:ext cx="609600" cy="533400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4F46E5"/>
              </a:gs>
              <a:gs pos="100000">
                <a:srgbClr val="0EA5E9"/>
              </a:gs>
            </a:gsLst>
            <a:lin ang="2700000" scaled="0"/>
          </a:gra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>
                <a:solidFill>
                  <a:srgbClr val="1E293B"/>
                </a:solidFill>
                <a:latin typeface="Segoe UI"/>
              </a:rPr>
              <a:t>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4794795"/>
            <a:ext cx="6486591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64748B"/>
                </a:solidFill>
                <a:latin typeface="Segoe UI"/>
              </a:rPr>
              <a:t>AI Factory 기준 장비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5004345"/>
            <a:ext cx="6486591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  <a:latin typeface="Segoe UI"/>
              </a:rPr>
              <a:t>Nvidia DGX H100 Appliance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280570"/>
            <a:ext cx="6486591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94A3B8"/>
                </a:solidFill>
                <a:latin typeface="Segoe UI"/>
              </a:rPr>
              <a:t>GPU + SW 통합 최적화 제품 · 턴키 AI 인프라 솔루션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64562" y="4794795"/>
            <a:ext cx="830609" cy="666750"/>
          </a:xfrm>
          <a:prstGeom prst="roundRect">
            <a:avLst>
              <a:gd name="adj" fmla="val 7142"/>
            </a:avLst>
          </a:prstGeom>
          <a:solidFill>
            <a:srgbClr val="4F46E5">
              <a:alpha val="20000"/>
            </a:srgbClr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3641" y="4918620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A5B4FC"/>
                </a:solidFill>
                <a:latin typeface="Segoe UI"/>
              </a:rPr>
              <a:t>8×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3641" y="5185320"/>
            <a:ext cx="6286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H100 GPU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7571" y="4794795"/>
            <a:ext cx="1046112" cy="666750"/>
          </a:xfrm>
          <a:prstGeom prst="roundRect">
            <a:avLst>
              <a:gd name="adj" fmla="val 7142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89628" y="4918620"/>
            <a:ext cx="8382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7DD3FC"/>
                </a:solidFill>
                <a:latin typeface="Segoe UI"/>
              </a:rPr>
              <a:t>640 GB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9628" y="5185320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HBM3 총 용량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46084" y="4794795"/>
            <a:ext cx="1045815" cy="666750"/>
          </a:xfrm>
          <a:prstGeom prst="roundRect">
            <a:avLst>
              <a:gd name="adj" fmla="val 7142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87992" y="4918620"/>
            <a:ext cx="8382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6EE7B7"/>
                </a:solidFill>
                <a:latin typeface="Segoe UI"/>
              </a:rPr>
              <a:t>NVLink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87992" y="5185320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Full-Mesh 연결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815280"/>
          </a:xfrm>
          <a:prstGeom prst="rect">
            <a:avLst/>
          </a:prstGeom>
          <a:noFill/>
          <a:ln w="762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57200"/>
            <a:ext cx="11223498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EA5E9"/>
                </a:solidFill>
                <a:latin typeface="Segoe UI"/>
              </a:rPr>
              <a:t>Slide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57225"/>
            <a:ext cx="11223498" cy="3333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1E293B"/>
                </a:solidFill>
                <a:latin typeface="Segoe UI"/>
              </a:rPr>
              <a:t>Large-Scale AI Compute Cluster — SuperPOD &amp; AI Factory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66800"/>
            <a:ext cx="11223498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4F46E5"/>
                </a:solidFill>
                <a:latin typeface="Segoe UI"/>
              </a:rPr>
              <a:t>개별 서버를 넘어 수만 개의 GPU를 하나의 컴퓨팅 단위로 연결하는 SuperPOD/AI Factory 구조가 대규모 AI 훈련의 표준 아키텍처로 확립되고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1005" y="1634430"/>
            <a:ext cx="1567011" cy="847725"/>
          </a:xfrm>
          <a:prstGeom prst="roundRect">
            <a:avLst>
              <a:gd name="adj" fmla="val 6741"/>
            </a:avLst>
          </a:prstGeom>
          <a:gradFill>
            <a:gsLst>
              <a:gs pos="0">
                <a:srgbClr val="4F46E5"/>
              </a:gs>
              <a:gs pos="100000">
                <a:srgbClr val="6366F1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1505" y="1786830"/>
            <a:ext cx="1262211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C7D2FE"/>
                </a:solidFill>
                <a:latin typeface="Segoe UI"/>
              </a:rPr>
              <a:t>SUPERCHIP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505" y="1939230"/>
            <a:ext cx="1262211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  <a:latin typeface="Segoe UI"/>
              </a:rPr>
              <a:t>1+2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505" y="2224980"/>
            <a:ext cx="1262211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C7D2FE"/>
                </a:solidFill>
                <a:latin typeface="Segoe UI"/>
              </a:rPr>
              <a:t>Grace CPU + B200 GPU ×2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8017" y="1934467"/>
            <a:ext cx="5334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0" bIns="0">
            <a:spAutoFit/>
          </a:bodyPr>
          <a:lstStyle/>
          <a:p>
            <a:pPr algn="l"/>
            <a:r>
              <a:rPr b="1" sz="1600">
                <a:solidFill>
                  <a:srgbClr val="4F46E5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38067" y="1634430"/>
            <a:ext cx="1259978" cy="847725"/>
          </a:xfrm>
          <a:prstGeom prst="roundRect">
            <a:avLst>
              <a:gd name="adj" fmla="val 6741"/>
            </a:avLst>
          </a:prstGeom>
          <a:gradFill>
            <a:gsLst>
              <a:gs pos="0">
                <a:srgbClr val="0EA5E9"/>
              </a:gs>
              <a:gs pos="100000">
                <a:srgbClr val="38BDF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8567" y="1786830"/>
            <a:ext cx="955178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E0F2FE"/>
                </a:solidFill>
                <a:latin typeface="Segoe UI"/>
              </a:rPr>
              <a:t>NVL72 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8567" y="1939230"/>
            <a:ext cx="955178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  <a:latin typeface="Segoe UI"/>
              </a:rPr>
              <a:t>72 GPU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8567" y="2224980"/>
            <a:ext cx="955178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E0F2FE"/>
                </a:solidFill>
                <a:latin typeface="Segoe UI"/>
              </a:rPr>
              <a:t>Direct Liquid Cooling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8046" y="1934467"/>
            <a:ext cx="5334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0" bIns="0">
            <a:spAutoFit/>
          </a:bodyPr>
          <a:lstStyle/>
          <a:p>
            <a:pPr algn="l"/>
            <a:r>
              <a:rPr b="1" sz="1600">
                <a:solidFill>
                  <a:srgbClr val="4F46E5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8096" y="1634430"/>
            <a:ext cx="1450478" cy="847725"/>
          </a:xfrm>
          <a:prstGeom prst="roundRect">
            <a:avLst>
              <a:gd name="adj" fmla="val 6741"/>
            </a:avLst>
          </a:prstGeom>
          <a:gradFill>
            <a:gsLst>
              <a:gs pos="0">
                <a:srgbClr val="7C3AED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8596" y="1786830"/>
            <a:ext cx="1145678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EDE9FE"/>
                </a:solidFill>
                <a:latin typeface="Segoe UI"/>
              </a:rPr>
              <a:t>SuperPOD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8596" y="1939230"/>
            <a:ext cx="1145678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  <a:latin typeface="Segoe UI"/>
              </a:rPr>
              <a:t>~1,000s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8596" y="2224980"/>
            <a:ext cx="1145678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EDE9FE"/>
                </a:solidFill>
                <a:latin typeface="Segoe UI"/>
              </a:rPr>
              <a:t>Quantum-X800 IB Switch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8575" y="1934467"/>
            <a:ext cx="5334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0" bIns="0">
            <a:spAutoFit/>
          </a:bodyPr>
          <a:lstStyle/>
          <a:p>
            <a:pPr algn="l"/>
            <a:r>
              <a:rPr b="1" sz="1600">
                <a:solidFill>
                  <a:srgbClr val="4F46E5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8625" y="1615380"/>
            <a:ext cx="1572369" cy="885825"/>
          </a:xfrm>
          <a:prstGeom prst="roundRect">
            <a:avLst>
              <a:gd name="adj" fmla="val 6451"/>
            </a:avLst>
          </a:prstGeom>
          <a:gradFill>
            <a:gsLst>
              <a:gs pos="0">
                <a:srgbClr val="1E293B"/>
              </a:gs>
              <a:gs pos="100000">
                <a:srgbClr val="334155"/>
              </a:gs>
            </a:gsLst>
            <a:lin ang="2700000" scaled="0"/>
          </a:gra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8175" y="1786830"/>
            <a:ext cx="1229469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94A3B8"/>
                </a:solidFill>
                <a:latin typeface="Segoe UI"/>
              </a:rPr>
              <a:t>AI Factory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8175" y="1939230"/>
            <a:ext cx="1229469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59E0B"/>
                </a:solidFill>
                <a:latin typeface="Segoe UI"/>
              </a:rPr>
              <a:t>32,000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8175" y="2224980"/>
            <a:ext cx="1229469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Max Scale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3400" y="2844105"/>
            <a:ext cx="5486400" cy="1414462"/>
          </a:xfrm>
          <a:prstGeom prst="roundRect">
            <a:avLst>
              <a:gd name="adj" fmla="val 404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425" y="3048892"/>
            <a:ext cx="95250" cy="9525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4875" y="3025080"/>
            <a:ext cx="14192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GIGABYTE GIGA POD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3263205"/>
            <a:ext cx="5081968" cy="214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단일 서버 → 8 Rack (256 GPU) 유연한 구성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" y="3534667"/>
            <a:ext cx="5081968" cy="214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모듈형 스케일아웃 지원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" y="3806130"/>
            <a:ext cx="5081968" cy="214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다양한 GPU 벤더 호환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844105"/>
            <a:ext cx="5486400" cy="1414462"/>
          </a:xfrm>
          <a:prstGeom prst="roundRect">
            <a:avLst>
              <a:gd name="adj" fmla="val 404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72225" y="3048892"/>
            <a:ext cx="95250" cy="9525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3675" y="3025080"/>
            <a:ext cx="9810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EA5E9"/>
                </a:solidFill>
                <a:latin typeface="Segoe UI"/>
              </a:rPr>
              <a:t>Dell AI Factory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4625" y="3263205"/>
            <a:ext cx="5081968" cy="214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PowerEdge XE9680 중심 구성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4625" y="3534667"/>
            <a:ext cx="5081968" cy="214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단일 랙 최대 </a:t>
            </a:r>
            <a:r>
              <a:rPr b="1" sz="900">
                <a:solidFill>
                  <a:srgbClr val="1E293B"/>
                </a:solidFill>
                <a:latin typeface="Segoe UI"/>
              </a:rPr>
              <a:t>72 GPU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5" y="3806130"/>
            <a:ext cx="5081968" cy="214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DLC (Direct Liquid Cooling) 지원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3400" y="4525267"/>
            <a:ext cx="11125200" cy="390525"/>
          </a:xfrm>
          <a:prstGeom prst="roundRect">
            <a:avLst>
              <a:gd name="adj" fmla="val 12195"/>
            </a:avLst>
          </a:prstGeom>
          <a:gradFill>
            <a:gsLst>
              <a:gs pos="0">
                <a:srgbClr val="EEF2FF"/>
              </a:gs>
              <a:gs pos="100000">
                <a:srgbClr val="F0F9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900" y="4639567"/>
            <a:ext cx="233362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4F46E5"/>
                </a:solidFill>
                <a:latin typeface="Segoe UI"/>
              </a:rPr>
              <a:t>🔗 Quantum-X800 InfiniBand Switch 연동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2369" y="4639567"/>
            <a:ext cx="19335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0EA5E9"/>
                </a:solidFill>
                <a:latin typeface="Segoe UI"/>
              </a:rPr>
              <a:t>❄️ Direct Liquid Cooling 기본 채택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61384" y="4639567"/>
            <a:ext cx="16954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7C3AED"/>
                </a:solidFill>
                <a:latin typeface="Segoe UI"/>
              </a:rPr>
              <a:t>⚡ 대규모 AI 훈련 표준 아키텍처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815280"/>
          </a:xfrm>
          <a:prstGeom prst="rect">
            <a:avLst/>
          </a:prstGeom>
          <a:noFill/>
          <a:ln w="762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57200"/>
            <a:ext cx="11223498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EA5E9"/>
                </a:solidFill>
                <a:latin typeface="Segoe UI"/>
              </a:rPr>
              <a:t>Slide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57225"/>
            <a:ext cx="11223498" cy="3333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1E293B"/>
                </a:solidFill>
                <a:latin typeface="Segoe UI"/>
              </a:rPr>
              <a:t>Cooling System — 중요성과 기술 진화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66800"/>
            <a:ext cx="11223498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4F46E5"/>
                </a:solidFill>
                <a:latin typeface="Segoe UI"/>
              </a:rPr>
              <a:t>GPU 발열 급증으로 Air Cooling 한계 도달 — Liquid Cooling이 필수 기술로 전환되고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501080"/>
            <a:ext cx="5467350" cy="2057400"/>
          </a:xfrm>
          <a:prstGeom prst="roundRect">
            <a:avLst>
              <a:gd name="adj" fmla="val 2777"/>
            </a:avLst>
          </a:prstGeom>
          <a:solidFill>
            <a:srgbClr val="FFF5F5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425" y="1701105"/>
            <a:ext cx="5219319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DC2626"/>
                </a:solidFill>
                <a:latin typeface="Segoe UI"/>
              </a:rPr>
              <a:t>🔥 GPU 발열 증가 추이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209163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64748B"/>
                </a:solidFill>
                <a:latin typeface="Segoe UI"/>
              </a:rPr>
              <a:t>V100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75" y="2015430"/>
            <a:ext cx="4591050" cy="266700"/>
          </a:xfrm>
          <a:prstGeom prst="roundRect">
            <a:avLst>
              <a:gd name="adj" fmla="val 10714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9675" y="2015430"/>
            <a:ext cx="1476375" cy="266700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FCA5A5"/>
              </a:gs>
              <a:gs pos="100000">
                <a:srgbClr val="F87171"/>
              </a:gs>
            </a:gsLst>
            <a:lin ang="0" scaled="0"/>
          </a:gradFill>
          <a:ln>
            <a:noFill/>
          </a:ln>
        </p:spPr>
        <p:txBody>
          <a:bodyPr wrap="square" anchor="ctr" lIns="76200" rIns="0" tIns="0" bIns="0">
            <a:spAutoFit/>
          </a:bodyPr>
          <a:lstStyle/>
          <a:p>
            <a:pPr algn="l"/>
            <a:r>
              <a:rPr b="1" sz="800">
                <a:solidFill>
                  <a:srgbClr val="7F1D1D"/>
                </a:solidFill>
                <a:latin typeface="Segoe UI"/>
              </a:rPr>
              <a:t>300W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245358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64748B"/>
                </a:solidFill>
                <a:latin typeface="Segoe UI"/>
              </a:rPr>
              <a:t>H100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75" y="2377380"/>
            <a:ext cx="4591050" cy="266700"/>
          </a:xfrm>
          <a:prstGeom prst="roundRect">
            <a:avLst>
              <a:gd name="adj" fmla="val 10714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9675" y="2377380"/>
            <a:ext cx="3335655" cy="266700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F87171"/>
              </a:gs>
              <a:gs pos="100000">
                <a:srgbClr val="EF4444"/>
              </a:gs>
            </a:gsLst>
            <a:lin ang="0" scaled="0"/>
          </a:gradFill>
          <a:ln>
            <a:noFill/>
          </a:ln>
        </p:spPr>
        <p:txBody>
          <a:bodyPr wrap="square" anchor="ctr" lIns="76200" rIns="0" tIns="0" bIns="0">
            <a:spAutoFit/>
          </a:bodyPr>
          <a:lstStyle/>
          <a:p>
            <a:pPr algn="l"/>
            <a:r>
              <a:rPr b="1" sz="800">
                <a:solidFill>
                  <a:srgbClr val="7F1D1D"/>
                </a:solidFill>
                <a:latin typeface="Segoe UI"/>
              </a:rPr>
              <a:t>700W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281553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64748B"/>
                </a:solidFill>
                <a:latin typeface="Segoe UI"/>
              </a:rPr>
              <a:t>B100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75" y="2739330"/>
            <a:ext cx="4591050" cy="266700"/>
          </a:xfrm>
          <a:prstGeom prst="roundRect">
            <a:avLst>
              <a:gd name="adj" fmla="val 10714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9675" y="2739330"/>
            <a:ext cx="4748403" cy="266700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EF4444"/>
              </a:gs>
              <a:gs pos="100000">
                <a:srgbClr val="B91C1C"/>
              </a:gs>
            </a:gsLst>
            <a:lin ang="0" scaled="0"/>
          </a:gradFill>
          <a:ln>
            <a:noFill/>
          </a:ln>
        </p:spPr>
        <p:txBody>
          <a:bodyPr wrap="square" anchor="ctr" lIns="76200" rIns="0" tIns="0" bIns="0">
            <a:spAutoFit/>
          </a:bodyPr>
          <a:lstStyle/>
          <a:p>
            <a:pPr algn="l"/>
            <a:r>
              <a:rPr b="1" sz="800">
                <a:solidFill>
                  <a:srgbClr val="FFFFFF"/>
                </a:solidFill>
                <a:latin typeface="Segoe UI"/>
              </a:rPr>
              <a:t>1,000W+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" y="313938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1E293B"/>
                </a:solidFill>
                <a:latin typeface="Segoe UI"/>
              </a:rPr>
              <a:t>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3167955"/>
            <a:ext cx="14097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DC2626"/>
                </a:solidFill>
                <a:latin typeface="Segoe UI"/>
              </a:rPr>
              <a:t>3.3× 증가 (V100 → B100)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1250" y="1501080"/>
            <a:ext cx="5467350" cy="2057400"/>
          </a:xfrm>
          <a:prstGeom prst="roundRect">
            <a:avLst>
              <a:gd name="adj" fmla="val 2777"/>
            </a:avLst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275" y="1701105"/>
            <a:ext cx="5219319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369A1"/>
                </a:solidFill>
                <a:latin typeface="Segoe UI"/>
              </a:rPr>
              <a:t>🏢 데이터센터 전력 밀도 비교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91275" y="2015430"/>
            <a:ext cx="2486025" cy="1152525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5100" y="2139255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64748B"/>
                </a:solidFill>
                <a:latin typeface="Segoe UI"/>
              </a:rPr>
              <a:t>기존 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2348805"/>
            <a:ext cx="231457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500">
                <a:solidFill>
                  <a:srgbClr val="0EA5E9"/>
                </a:solidFill>
                <a:latin typeface="Segoe UI"/>
              </a:rPr>
              <a:t>2~5kW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2567880"/>
            <a:ext cx="231457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랙당 전력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100" y="2767905"/>
            <a:ext cx="2314575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PUE ≈ </a:t>
            </a:r>
            <a:r>
              <a:rPr sz="800">
                <a:solidFill>
                  <a:srgbClr val="DC2626"/>
                </a:solidFill>
                <a:latin typeface="Segoe UI"/>
              </a:rPr>
              <a:t>1.7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100" y="2882205"/>
            <a:ext cx="231457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냉방 전력 ~30%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72550" y="2015430"/>
            <a:ext cx="2486025" cy="1152525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5900" y="2148780"/>
            <a:ext cx="2295525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DC2626"/>
                </a:solidFill>
                <a:latin typeface="Segoe UI"/>
              </a:rPr>
              <a:t>AI 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5900" y="2320230"/>
            <a:ext cx="22955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500">
                <a:solidFill>
                  <a:srgbClr val="DC2626"/>
                </a:solidFill>
                <a:latin typeface="Segoe UI"/>
              </a:rPr>
              <a:t>50kW+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5900" y="2539305"/>
            <a:ext cx="22955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랙당 전력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5900" y="2739330"/>
            <a:ext cx="22955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DC2626"/>
                </a:solidFill>
                <a:latin typeface="Segoe UI"/>
              </a:rPr>
              <a:t>Air Cooling 한계 초과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5900" y="2891730"/>
            <a:ext cx="22955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Liquid Cooling 필수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3400" y="3787080"/>
            <a:ext cx="11125200" cy="1962150"/>
          </a:xfrm>
          <a:prstGeom prst="roundRect">
            <a:avLst>
              <a:gd name="adj" fmla="val 2912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3425" y="3987105"/>
            <a:ext cx="11046904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1E293B"/>
                </a:solidFill>
                <a:latin typeface="Segoe UI"/>
              </a:rPr>
              <a:t>냉각 방식 진화 타임라인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3425" y="4301430"/>
            <a:ext cx="5181600" cy="1247775"/>
          </a:xfrm>
          <a:prstGeom prst="rect">
            <a:avLst/>
          </a:prstGeom>
          <a:gradFill>
            <a:gsLst>
              <a:gs pos="0">
                <a:srgbClr val="EFF6FF"/>
              </a:gs>
              <a:gs pos="100000">
                <a:srgbClr val="DBEAFE"/>
              </a:gs>
            </a:gsLst>
            <a:lin ang="2700000" scaled="0"/>
          </a:gra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6300" y="4425255"/>
            <a:ext cx="5042725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1D4ED8"/>
                </a:solidFill>
                <a:latin typeface="Segoe UI"/>
              </a:rPr>
              <a:t>AIR COOLING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300" y="4615755"/>
            <a:ext cx="5042725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1E293B"/>
                </a:solidFill>
                <a:latin typeface="Segoe UI"/>
              </a:rPr>
              <a:t>🌀 Room Cooling (CRAC/CRAH)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6300" y="4901505"/>
            <a:ext cx="5042725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1E293B"/>
                </a:solidFill>
                <a:latin typeface="Segoe UI"/>
              </a:rPr>
              <a:t>🌀 Row Cooling (In-Row)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6300" y="5187255"/>
            <a:ext cx="5042725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1E293B"/>
                </a:solidFill>
                <a:latin typeface="Segoe UI"/>
              </a:rPr>
              <a:t>🌀 Rack Cooling (RDHx)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15025" y="4301430"/>
            <a:ext cx="495300" cy="1247775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76200" tIns="0" bIns="0">
            <a:spAutoFit/>
          </a:bodyPr>
          <a:lstStyle/>
          <a:p>
            <a:pPr algn="l"/>
            <a:r>
              <a:rPr b="1" sz="1600">
                <a:solidFill>
                  <a:srgbClr val="4F46E5"/>
                </a:solidFill>
                <a:latin typeface="Segoe U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76975" y="4301430"/>
            <a:ext cx="5181600" cy="1247775"/>
          </a:xfrm>
          <a:prstGeom prst="rect">
            <a:avLst/>
          </a:prstGeom>
          <a:gradFill>
            <a:gsLst>
              <a:gs pos="0">
                <a:srgbClr val="ECFDF5"/>
              </a:gs>
              <a:gs pos="100000">
                <a:srgbClr val="D1FAE5"/>
              </a:gs>
            </a:gsLst>
            <a:lin ang="2700000" scaled="0"/>
          </a:gra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9850" y="4425255"/>
            <a:ext cx="5042725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065F46"/>
                </a:solidFill>
                <a:latin typeface="Segoe UI"/>
              </a:rPr>
              <a:t>LIQUID COOLING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850" y="4615755"/>
            <a:ext cx="5042725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1E293B"/>
                </a:solidFill>
                <a:latin typeface="Segoe UI"/>
              </a:rPr>
              <a:t>💧 DLC (Direct Liquid Cooling)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850" y="4901505"/>
            <a:ext cx="5042725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1E293B"/>
                </a:solidFill>
                <a:latin typeface="Segoe UI"/>
              </a:rPr>
              <a:t>💧 Precision Immersion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850" y="5187255"/>
            <a:ext cx="5042725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1E293B"/>
                </a:solidFill>
                <a:latin typeface="Segoe UI"/>
              </a:rPr>
              <a:t>💧 Full Immersion </a:t>
            </a:r>
            <a:r>
              <a:rPr b="1" sz="800">
                <a:solidFill>
                  <a:srgbClr val="059669"/>
                </a:solidFill>
                <a:latin typeface="Segoe UI"/>
              </a:rPr>
              <a:t>PUE 1.03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3400" y="5977830"/>
            <a:ext cx="11125200" cy="438150"/>
          </a:xfrm>
          <a:prstGeom prst="roundRect">
            <a:avLst>
              <a:gd name="adj" fmla="val 10869"/>
            </a:avLst>
          </a:prstGeom>
          <a:gradFill>
            <a:gsLst>
              <a:gs pos="0">
                <a:srgbClr val="FEF3C7"/>
              </a:gs>
              <a:gs pos="100000">
                <a:srgbClr val="FFF7ED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3900" y="6092130"/>
            <a:ext cx="333375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>
                <a:solidFill>
                  <a:srgbClr val="1E293B"/>
                </a:solidFill>
                <a:latin typeface="Segoe UI"/>
              </a:rPr>
              <a:t>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2214" y="6106417"/>
            <a:ext cx="4571809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92400E"/>
                </a:solidFill>
                <a:latin typeface="Segoe UI"/>
              </a:rPr>
              <a:t>Immersion Cooling 도입 시 PUE </a:t>
            </a:r>
            <a:r>
              <a:rPr sz="1100">
                <a:solidFill>
                  <a:srgbClr val="DC2626"/>
                </a:solidFill>
                <a:latin typeface="Segoe UI"/>
              </a:rPr>
              <a:t>1.03</a:t>
            </a:r>
            <a:r>
              <a:rPr sz="900">
                <a:solidFill>
                  <a:srgbClr val="92400E"/>
                </a:solidFill>
                <a:latin typeface="Segoe UI"/>
              </a:rPr>
              <a:t> 달성 가능 — 기존 대비 냉방 전력 </a:t>
            </a:r>
            <a:r>
              <a:rPr sz="900">
                <a:solidFill>
                  <a:srgbClr val="DC2626"/>
                </a:solidFill>
                <a:latin typeface="Segoe UI"/>
              </a:rPr>
              <a:t>약 80% 절감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815280"/>
          </a:xfrm>
          <a:prstGeom prst="rect">
            <a:avLst/>
          </a:prstGeom>
          <a:noFill/>
          <a:ln w="762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57200"/>
            <a:ext cx="11223498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EA5E9"/>
                </a:solidFill>
                <a:latin typeface="Segoe UI"/>
              </a:rPr>
              <a:t>Slide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57225"/>
            <a:ext cx="11223498" cy="3333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1E293B"/>
                </a:solidFill>
                <a:latin typeface="Segoe UI"/>
              </a:rPr>
              <a:t>Air Cooling 기술 상세 — 세대별 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66800"/>
            <a:ext cx="11223498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4F46E5"/>
                </a:solidFill>
                <a:latin typeface="Segoe UI"/>
              </a:rPr>
              <a:t>Room → Row → Rack 단위로 세분화하며 효율을 높여왔으나, AI DC 고밀도 발열 대응에는 구조적 한계가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501080"/>
            <a:ext cx="3606700" cy="2348210"/>
          </a:xfrm>
          <a:prstGeom prst="roundRect">
            <a:avLst>
              <a:gd name="adj" fmla="val 2433"/>
            </a:avLst>
          </a:prstGeom>
          <a:solidFill>
            <a:srgbClr val="F8FAFC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2925" y="1510605"/>
            <a:ext cx="3587650" cy="542925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6366F1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1624905"/>
            <a:ext cx="338133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C7D2FE"/>
                </a:solidFill>
                <a:latin typeface="Segoe UI"/>
              </a:rPr>
              <a:t>1세대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1786830"/>
            <a:ext cx="338133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Room Cooling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5325" y="2186880"/>
            <a:ext cx="3282850" cy="581025"/>
          </a:xfrm>
          <a:prstGeom prst="roundRect">
            <a:avLst>
              <a:gd name="adj" fmla="val 655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12850" y="2301180"/>
            <a:ext cx="863054" cy="1905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1D4ED8"/>
                </a:solidFill>
                <a:latin typeface="Segoe UI"/>
              </a:rPr>
              <a:t>CRAC/CRAH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7804" y="233928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3B82F6"/>
                </a:solidFill>
                <a:latin typeface="Segoe U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779" y="2282130"/>
            <a:ext cx="517921" cy="228600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DC2626"/>
                </a:solidFill>
                <a:latin typeface="Segoe UI"/>
              </a:rPr>
              <a:t>서버룸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6434" y="2567880"/>
            <a:ext cx="6858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3B82F6"/>
                </a:solidFill>
                <a:latin typeface="Segoe UI"/>
              </a:rPr>
              <a:t>❄ Cold Aisle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000" y="2567880"/>
            <a:ext cx="676275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DC2626"/>
                </a:solidFill>
                <a:latin typeface="Segoe UI"/>
              </a:rPr>
              <a:t>🔥 Hot Aisle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2863155"/>
            <a:ext cx="3234174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CRAC/CRAH 기반 서버룸 전체 냉방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128367"/>
            <a:ext cx="3234174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Hot/Cold Aisle 분리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393578"/>
            <a:ext cx="3234174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대형 공간 전체 냉각 — 비효율 높음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2500" y="1501080"/>
            <a:ext cx="3606849" cy="2348210"/>
          </a:xfrm>
          <a:prstGeom prst="roundRect">
            <a:avLst>
              <a:gd name="adj" fmla="val 2433"/>
            </a:avLst>
          </a:prstGeom>
          <a:solidFill>
            <a:srgbClr val="F8FAFC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02025" y="1510605"/>
            <a:ext cx="3587799" cy="542925"/>
          </a:xfrm>
          <a:prstGeom prst="rect">
            <a:avLst/>
          </a:prstGeom>
          <a:gradFill>
            <a:gsLst>
              <a:gs pos="0">
                <a:srgbClr val="0EA5E9"/>
              </a:gs>
              <a:gs pos="100000">
                <a:srgbClr val="38BDF8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4425" y="1624905"/>
            <a:ext cx="3381488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E0F2FE"/>
                </a:solidFill>
                <a:latin typeface="Segoe UI"/>
              </a:rPr>
              <a:t>2세대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4425" y="1786830"/>
            <a:ext cx="3381488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In-Row Cooling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54425" y="2186880"/>
            <a:ext cx="3282999" cy="628650"/>
          </a:xfrm>
          <a:prstGeom prst="roundRect">
            <a:avLst>
              <a:gd name="adj" fmla="val 606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5614" y="2282130"/>
            <a:ext cx="525958" cy="238125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DC2626"/>
                </a:solidFill>
                <a:latin typeface="Segoe UI"/>
              </a:rPr>
              <a:t>🖥 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83473" y="2310705"/>
            <a:ext cx="501104" cy="180975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1D4ED8"/>
                </a:solidFill>
                <a:latin typeface="Segoe UI"/>
              </a:rPr>
              <a:t>❄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6477" y="2282130"/>
            <a:ext cx="525958" cy="238125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DC2626"/>
                </a:solidFill>
                <a:latin typeface="Segoe UI"/>
              </a:rPr>
              <a:t>🖥 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9675" y="2577405"/>
            <a:ext cx="3185273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0369A1"/>
                </a:solidFill>
                <a:latin typeface="Segoe UI"/>
              </a:rPr>
              <a:t>랙 사이 직접 설치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7300" y="2910780"/>
            <a:ext cx="3234327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랙 사이 냉각 유닛 직접 설치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7300" y="3175992"/>
            <a:ext cx="3234327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랙 수에 따른 최적 용량 설계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7300" y="3441203"/>
            <a:ext cx="3234327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서버룸 대비 효율 향상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51750" y="1501080"/>
            <a:ext cx="3606700" cy="2348210"/>
          </a:xfrm>
          <a:prstGeom prst="roundRect">
            <a:avLst>
              <a:gd name="adj" fmla="val 2433"/>
            </a:avLst>
          </a:prstGeom>
          <a:solidFill>
            <a:srgbClr val="F8FAFC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1275" y="1510605"/>
            <a:ext cx="3587650" cy="542925"/>
          </a:xfrm>
          <a:prstGeom prst="rect">
            <a:avLst/>
          </a:prstGeom>
          <a:gradFill>
            <a:gsLst>
              <a:gs pos="0">
                <a:srgbClr val="7C3AED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3675" y="1624905"/>
            <a:ext cx="338133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EDE9FE"/>
                </a:solidFill>
                <a:latin typeface="Segoe UI"/>
              </a:rPr>
              <a:t>3세대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3675" y="1786830"/>
            <a:ext cx="338133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RDHx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13675" y="2186880"/>
            <a:ext cx="3282850" cy="628650"/>
          </a:xfrm>
          <a:prstGeom prst="roundRect">
            <a:avLst>
              <a:gd name="adj" fmla="val 606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5415" y="2282130"/>
            <a:ext cx="525958" cy="238125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DC2626"/>
                </a:solidFill>
                <a:latin typeface="Segoe UI"/>
              </a:rPr>
              <a:t>🖥 Rack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4223" y="2348805"/>
            <a:ext cx="20955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7C3AED"/>
                </a:solidFill>
                <a:latin typeface="Segoe UI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6623" y="2310705"/>
            <a:ext cx="614213" cy="180975"/>
          </a:xfrm>
          <a:prstGeom prst="roundRect">
            <a:avLst>
              <a:gd name="adj" fmla="val 10526"/>
            </a:avLst>
          </a:prstGeom>
          <a:solidFill>
            <a:srgbClr val="DDD6FE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4C1D95"/>
                </a:solidFill>
                <a:latin typeface="Segoe UI"/>
              </a:rPr>
              <a:t>💧 RDHx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8925" y="2577405"/>
            <a:ext cx="318512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D28D9"/>
                </a:solidFill>
                <a:latin typeface="Segoe UI"/>
              </a:rPr>
              <a:t>Rear Door 수냉식 열교환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6550" y="2910780"/>
            <a:ext cx="3234174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랙 후면 수냉식 열교환기 설치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6550" y="3175992"/>
            <a:ext cx="3234174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배출 열기를 직접 흡수·냉각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6550" y="3441203"/>
            <a:ext cx="3234174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475569"/>
                </a:solidFill>
                <a:latin typeface="Segoe UI"/>
              </a:rPr>
              <a:t>Air + Water 하이브리드 방식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3400" y="4077890"/>
            <a:ext cx="11125200" cy="1409700"/>
          </a:xfrm>
          <a:prstGeom prst="roundRect">
            <a:avLst>
              <a:gd name="adj" fmla="val 405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2925" y="4087415"/>
            <a:ext cx="11106150" cy="3429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3425" y="4182665"/>
            <a:ext cx="2972657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94A3B8"/>
                </a:solidFill>
                <a:latin typeface="Segoe UI"/>
              </a:rPr>
              <a:t>방식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2001" y="4182665"/>
            <a:ext cx="20097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94A3B8"/>
                </a:solidFill>
                <a:latin typeface="Segoe UI"/>
              </a:rPr>
              <a:t>냉각 범위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02783" y="4182665"/>
            <a:ext cx="20097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94A3B8"/>
                </a:solidFill>
                <a:latin typeface="Segoe UI"/>
              </a:rPr>
              <a:t>랙 밀도 대응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73565" y="4182665"/>
            <a:ext cx="20097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94A3B8"/>
                </a:solidFill>
                <a:latin typeface="Segoe UI"/>
              </a:rPr>
              <a:t>설치 복잡도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44422" y="4182665"/>
            <a:ext cx="20097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800">
                <a:solidFill>
                  <a:srgbClr val="94A3B8"/>
                </a:solidFill>
                <a:latin typeface="Segoe UI"/>
              </a:rPr>
              <a:t>AI DC 적합성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2925" y="4430315"/>
            <a:ext cx="11106150" cy="352425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3425" y="4535090"/>
            <a:ext cx="2972657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4F46E5"/>
                </a:solidFill>
                <a:latin typeface="Segoe UI"/>
              </a:rPr>
              <a:t>Room (CRAC/CRAH)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2001" y="4525565"/>
            <a:ext cx="20097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전체 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02783" y="4544615"/>
            <a:ext cx="2009775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2~5kW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73565" y="4525565"/>
            <a:ext cx="20097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낮음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31933" y="4535090"/>
            <a:ext cx="634751" cy="152400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DC2626"/>
                </a:solidFill>
                <a:latin typeface="Segoe UI"/>
              </a:rPr>
              <a:t>✗ 부적합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2925" y="4782740"/>
            <a:ext cx="11106150" cy="352425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3425" y="4887515"/>
            <a:ext cx="2972657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0EA5E9"/>
                </a:solidFill>
                <a:latin typeface="Segoe UI"/>
              </a:rPr>
              <a:t>In-Row Cooling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32001" y="4877990"/>
            <a:ext cx="20097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행(Row)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02783" y="4897040"/>
            <a:ext cx="2009775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~20kW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73565" y="4877990"/>
            <a:ext cx="20097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중간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23450" y="4887515"/>
            <a:ext cx="651718" cy="15240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D97706"/>
                </a:solidFill>
                <a:latin typeface="Segoe UI"/>
              </a:rPr>
              <a:t>△ 제한적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3425" y="5239940"/>
            <a:ext cx="2972657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7C3AED"/>
                </a:solidFill>
                <a:latin typeface="Segoe UI"/>
              </a:rPr>
              <a:t>RDHx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32001" y="5230415"/>
            <a:ext cx="20097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랙(Rack)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02783" y="5249465"/>
            <a:ext cx="2009775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~30kW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73565" y="5230415"/>
            <a:ext cx="20097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475569"/>
                </a:solidFill>
                <a:latin typeface="Segoe UI"/>
              </a:rPr>
              <a:t>높음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60644" y="5239940"/>
            <a:ext cx="777180" cy="15240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D97706"/>
                </a:solidFill>
                <a:latin typeface="Segoe UI"/>
              </a:rPr>
              <a:t>△ 부분 가능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3400" y="5716190"/>
            <a:ext cx="11125200" cy="457200"/>
          </a:xfrm>
          <a:prstGeom prst="rect">
            <a:avLst/>
          </a:prstGeom>
          <a:gradFill>
            <a:gsLst>
              <a:gs pos="0">
                <a:srgbClr val="FEF2F2"/>
              </a:gs>
              <a:gs pos="100000">
                <a:srgbClr val="FFF5F5"/>
              </a:gs>
            </a:gsLst>
            <a:lin ang="0" scaled="0"/>
          </a:gradFill>
          <a:ln w="508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2000" y="5830490"/>
            <a:ext cx="3524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1E293B"/>
                </a:solidFill>
                <a:latin typeface="Segoe UI"/>
              </a:rPr>
              <a:t>⚠️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4127" y="5882878"/>
            <a:ext cx="15049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DC2626"/>
                </a:solidFill>
                <a:latin typeface="Segoe UI"/>
              </a:rPr>
              <a:t>Air Cooling 구조적 한계: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95401" y="5892403"/>
            <a:ext cx="4983861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7F1D1D"/>
                </a:solidFill>
                <a:latin typeface="Segoe UI"/>
              </a:rPr>
              <a:t>공기의 낮은 열전도율로 인해 </a:t>
            </a:r>
            <a:r>
              <a:rPr b="1" sz="900">
                <a:solidFill>
                  <a:srgbClr val="7F1D1D"/>
                </a:solidFill>
                <a:latin typeface="Segoe UI"/>
              </a:rPr>
              <a:t>50kW+ AI GPU 랙</a:t>
            </a:r>
            <a:r>
              <a:rPr sz="900">
                <a:solidFill>
                  <a:srgbClr val="7F1D1D"/>
                </a:solidFill>
                <a:latin typeface="Segoe UI"/>
              </a:rPr>
              <a:t> 냉각 불가 → Liquid Cooling으로의 전환 불가피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558105"/>
          </a:xfrm>
          <a:prstGeom prst="rect">
            <a:avLst/>
          </a:prstGeom>
          <a:noFill/>
          <a:ln w="635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3425" y="457200"/>
            <a:ext cx="1125293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0EA5E9"/>
                </a:solidFill>
                <a:latin typeface="Segoe UI"/>
              </a:rPr>
              <a:t>Slide 16 · Liquid Cooling 기술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695325"/>
            <a:ext cx="1125293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1E293B"/>
                </a:solidFill>
                <a:latin typeface="Segoe UI"/>
              </a:rPr>
              <a:t>DLC &amp; Precision Immersion Cooling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2005"/>
            <a:ext cx="11478577" cy="455265"/>
          </a:xfrm>
          <a:prstGeom prst="roundRect">
            <a:avLst>
              <a:gd name="adj" fmla="val 8368"/>
            </a:avLst>
          </a:prstGeom>
          <a:solidFill>
            <a:srgbClr val="F1F5F9"/>
          </a:solidFill>
          <a:ln>
            <a:noFill/>
          </a:ln>
        </p:spPr>
        <p:txBody>
          <a:bodyPr wrap="square" anchor="ctr" lIns="152400" rIns="152400" tIns="114300" bIns="11430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핵심 메시지:</a:t>
            </a:r>
            <a:r>
              <a:rPr sz="1000">
                <a:solidFill>
                  <a:srgbClr val="475569"/>
                </a:solidFill>
                <a:latin typeface="Segoe UI"/>
              </a:rPr>
              <a:t> Direct Liquid Cooling(DLC)과 Precision Immersion Cooling은 GPU/CPU 핫스팟에 직접 냉각재를 순환시켜 기존 Air Cooling 대비 획기적인 냉각 성능을 제공한다.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03970"/>
            <a:ext cx="5448300" cy="4396829"/>
          </a:xfrm>
          <a:prstGeom prst="roundRect">
            <a:avLst>
              <a:gd name="adj" fmla="val 1299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1525" y="2242095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9675" y="2299245"/>
            <a:ext cx="21526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200">
                <a:solidFill>
                  <a:srgbClr val="4F46E5"/>
                </a:solidFill>
                <a:latin typeface="Segoe UI"/>
              </a:rPr>
              <a:t>DLC (Direct Liquid Cooling)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525" y="2737395"/>
            <a:ext cx="4972050" cy="1314450"/>
          </a:xfrm>
          <a:prstGeom prst="roundRect">
            <a:avLst>
              <a:gd name="adj" fmla="val 3623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9923" y="2889795"/>
            <a:ext cx="882848" cy="4572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Segoe UI"/>
              </a:rPr>
              <a:t>CPU / GPU</a:t>
            </a:r>
          </a:p>
          <a:p>
            <a:pPr algn="ctr"/>
            <a:r>
              <a:rPr sz="700">
                <a:solidFill>
                  <a:srgbClr val="94A3B8"/>
                </a:solidFill>
                <a:latin typeface="Segoe UI"/>
              </a:rPr>
              <a:t>핫스팟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2771" y="2942183"/>
            <a:ext cx="748605" cy="238125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Cold Plate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9449" y="3199358"/>
            <a:ext cx="1905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1854" y="348034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0EA5E9"/>
                </a:solidFill>
                <a:latin typeface="Segoe UI"/>
              </a:rPr>
              <a:t>Coolant 순환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1181" y="3442245"/>
            <a:ext cx="579239" cy="219075"/>
          </a:xfrm>
          <a:prstGeom prst="roundRect">
            <a:avLst>
              <a:gd name="adj" fmla="val 8695"/>
            </a:avLst>
          </a:prstGeom>
          <a:solidFill>
            <a:srgbClr val="DBEAFE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1E40AF"/>
                </a:solidFill>
                <a:latin typeface="Segoe UI"/>
              </a:rPr>
              <a:t>열교환기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3756570"/>
            <a:ext cx="1943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오일류 Coolant 사용 (누수 시 서버 파손 방지)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4204245"/>
            <a:ext cx="2762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4F46E5"/>
                </a:solidFill>
                <a:latin typeface="Segoe U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273" y="4204245"/>
            <a:ext cx="274701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Segoe UI"/>
              </a:rPr>
              <a:t>Cold Plate를 핫스팟에 직접 부착 후 Coolant 순환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4541341"/>
            <a:ext cx="2762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4F46E5"/>
                </a:solidFill>
                <a:latin typeface="Segoe U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73" y="4541341"/>
            <a:ext cx="21717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334155"/>
                </a:solidFill>
                <a:latin typeface="Segoe UI"/>
              </a:rPr>
              <a:t>Nvidia GB200 서버 랙</a:t>
            </a:r>
            <a:r>
              <a:rPr sz="1000">
                <a:solidFill>
                  <a:srgbClr val="334155"/>
                </a:solidFill>
                <a:latin typeface="Segoe UI"/>
              </a:rPr>
              <a:t>: DLC 기본 채택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0300" y="2003970"/>
            <a:ext cx="5448300" cy="4396829"/>
          </a:xfrm>
          <a:prstGeom prst="roundRect">
            <a:avLst>
              <a:gd name="adj" fmla="val 1299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8425" y="2242095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6575" y="2299245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200">
                <a:solidFill>
                  <a:srgbClr val="0EA5E9"/>
                </a:solidFill>
                <a:latin typeface="Segoe UI"/>
              </a:rPr>
              <a:t>Precision Immersion Cooling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8425" y="2737395"/>
            <a:ext cx="4972050" cy="1238250"/>
          </a:xfrm>
          <a:prstGeom prst="roundRect">
            <a:avLst>
              <a:gd name="adj" fmla="val 3846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4780" y="3018383"/>
            <a:ext cx="442019" cy="4381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서버부분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7750" y="3332708"/>
            <a:ext cx="457200" cy="1238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700">
                <a:solidFill>
                  <a:srgbClr val="0369A1"/>
                </a:solidFill>
                <a:latin typeface="Segoe UI"/>
              </a:rPr>
              <a:t>직접 분사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4376" y="3018383"/>
            <a:ext cx="635942" cy="4381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0369A1"/>
                </a:solidFill>
                <a:latin typeface="Segoe UI"/>
              </a:rPr>
              <a:t>Coolant조(槽)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9125" y="3551783"/>
            <a:ext cx="14668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0369A1"/>
                </a:solidFill>
                <a:latin typeface="Segoe UI"/>
              </a:rPr>
              <a:t>발열 부위에만 Coolant 직접 분사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8425" y="4128045"/>
            <a:ext cx="2762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0EA5E9"/>
                </a:solidFill>
                <a:latin typeface="Segoe U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7173" y="4128045"/>
            <a:ext cx="229552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Segoe UI"/>
              </a:rPr>
              <a:t>서버 일부만 액침 — </a:t>
            </a:r>
            <a:r>
              <a:rPr b="1" sz="1000">
                <a:solidFill>
                  <a:srgbClr val="334155"/>
                </a:solidFill>
                <a:latin typeface="Segoe UI"/>
              </a:rPr>
              <a:t>기존 서버 호환성 우수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8425" y="4423320"/>
            <a:ext cx="2762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0EA5E9"/>
                </a:solidFill>
                <a:latin typeface="Segoe UI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7173" y="4423320"/>
            <a:ext cx="308057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Segoe UI"/>
              </a:rPr>
              <a:t>Coolant: 높은 열전도율 · 낮은 유전상수 · 적절한 끓는점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6667500"/>
            <a:ext cx="11125200" cy="495300"/>
          </a:xfrm>
          <a:prstGeom prst="roundRect">
            <a:avLst>
              <a:gd name="adj" fmla="val 9615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3900" y="6834187"/>
            <a:ext cx="10477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4F46E5"/>
                </a:solidFill>
                <a:latin typeface="Segoe UI"/>
              </a:rPr>
              <a:t>Coolant 선택 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04094" y="6800850"/>
            <a:ext cx="912614" cy="228600"/>
          </a:xfrm>
          <a:prstGeom prst="roundRect">
            <a:avLst>
              <a:gd name="adj" fmla="val 41666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Segoe UI"/>
              </a:rPr>
              <a:t>높은 열전도율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35758" y="6800850"/>
            <a:ext cx="1310282" cy="228600"/>
          </a:xfrm>
          <a:prstGeom prst="roundRect">
            <a:avLst>
              <a:gd name="adj" fmla="val 41666"/>
            </a:avLst>
          </a:prstGeom>
          <a:solidFill>
            <a:srgbClr val="0EA5E9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Segoe UI"/>
              </a:rPr>
              <a:t>낮은 유전상수 (절연성)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5091" y="6800850"/>
            <a:ext cx="1456580" cy="228600"/>
          </a:xfrm>
          <a:prstGeom prst="roundRect">
            <a:avLst>
              <a:gd name="adj" fmla="val 41666"/>
            </a:avLst>
          </a:prstGeom>
          <a:solidFill>
            <a:srgbClr val="1E293B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Segoe UI"/>
              </a:rPr>
              <a:t>적절한 끓는점·열팽창계수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558105"/>
          </a:xfrm>
          <a:prstGeom prst="rect">
            <a:avLst/>
          </a:prstGeom>
          <a:noFill/>
          <a:ln w="635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3425" y="457200"/>
            <a:ext cx="1125293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0EA5E9"/>
                </a:solidFill>
                <a:latin typeface="Segoe UI"/>
              </a:rPr>
              <a:t>Slide 17 · Liquid Cooling 기술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695325"/>
            <a:ext cx="1125293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1E293B"/>
                </a:solidFill>
                <a:latin typeface="Segoe UI"/>
              </a:rPr>
              <a:t>Immersion Cooling — Single &amp; Two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2005"/>
            <a:ext cx="11478577" cy="455265"/>
          </a:xfrm>
          <a:prstGeom prst="roundRect">
            <a:avLst>
              <a:gd name="adj" fmla="val 8368"/>
            </a:avLst>
          </a:prstGeom>
          <a:solidFill>
            <a:srgbClr val="F1F5F9"/>
          </a:solidFill>
          <a:ln>
            <a:noFill/>
          </a:ln>
        </p:spPr>
        <p:txBody>
          <a:bodyPr wrap="square" anchor="ctr" lIns="152400" rIns="152400" tIns="114300" bIns="11430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핵심 메시지:</a:t>
            </a:r>
            <a:r>
              <a:rPr sz="1000">
                <a:solidFill>
                  <a:srgbClr val="475569"/>
                </a:solidFill>
                <a:latin typeface="Segoe UI"/>
              </a:rPr>
              <a:t> Full Immersion Cooling은 PUE 1.03 달성이 가능한 최고 냉각 효율을 제공하며, SKT PoC에서 총 전력 및 탄소 배출 </a:t>
            </a:r>
            <a:r>
              <a:rPr b="1" sz="1000">
                <a:solidFill>
                  <a:srgbClr val="475569"/>
                </a:solidFill>
                <a:latin typeface="Segoe UI"/>
              </a:rPr>
              <a:t>37% 저감</a:t>
            </a:r>
            <a:r>
              <a:rPr sz="1000">
                <a:solidFill>
                  <a:srgbClr val="475569"/>
                </a:solidFill>
                <a:latin typeface="Segoe UI"/>
              </a:rPr>
              <a:t> 효과가 검증되었다.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03970"/>
            <a:ext cx="5448300" cy="2886075"/>
          </a:xfrm>
          <a:prstGeom prst="roundRect">
            <a:avLst>
              <a:gd name="adj" fmla="val 1980"/>
            </a:avLst>
          </a:prstGeom>
          <a:solidFill>
            <a:srgbClr val="F8FAFC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050" y="2251620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200">
                <a:solidFill>
                  <a:srgbClr val="4F46E5"/>
                </a:solidFill>
                <a:latin typeface="Segoe UI"/>
              </a:rPr>
              <a:t>Single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2857" y="2261145"/>
            <a:ext cx="807392" cy="209550"/>
          </a:xfrm>
          <a:prstGeom prst="roundRect">
            <a:avLst>
              <a:gd name="adj" fmla="val 45454"/>
            </a:avLst>
          </a:prstGeom>
          <a:solidFill>
            <a:srgbClr val="EEF2FF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4F46E5"/>
                </a:solidFill>
                <a:latin typeface="Segoe UI"/>
              </a:rPr>
              <a:t>현재 더 선호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050" y="2613570"/>
            <a:ext cx="4953000" cy="1047750"/>
          </a:xfrm>
          <a:prstGeom prst="roundRect">
            <a:avLst>
              <a:gd name="adj" fmla="val 4545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53666" y="2808833"/>
            <a:ext cx="710951" cy="438150"/>
          </a:xfrm>
          <a:prstGeom prst="roundRect">
            <a:avLst>
              <a:gd name="adj" fmla="val 6521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LiquidCoolant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0368" y="2808833"/>
            <a:ext cx="690413" cy="438150"/>
          </a:xfrm>
          <a:prstGeom prst="roundRect">
            <a:avLst>
              <a:gd name="adj" fmla="val 6521"/>
            </a:avLst>
          </a:prstGeom>
          <a:solidFill>
            <a:srgbClr val="1E293B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열교환기냉각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6532" y="2808833"/>
            <a:ext cx="710951" cy="438150"/>
          </a:xfrm>
          <a:prstGeom prst="roundRect">
            <a:avLst>
              <a:gd name="adj" fmla="val 6521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LiquidCoolant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8957" y="3323183"/>
            <a:ext cx="14192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366F1"/>
                </a:solidFill>
                <a:latin typeface="Segoe UI"/>
              </a:rPr>
              <a:t>상태 변화 없음 — 항상 액체 유지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3794670"/>
            <a:ext cx="20955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844" y="3794670"/>
            <a:ext cx="162877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Segoe UI"/>
              </a:rPr>
              <a:t>Coolant 상태 항상 액체 유지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4099470"/>
            <a:ext cx="20955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844" y="4099470"/>
            <a:ext cx="177165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Segoe UI"/>
              </a:rPr>
              <a:t>시스템 복잡도 낮아 </a:t>
            </a:r>
            <a:r>
              <a:rPr b="1" sz="1000">
                <a:solidFill>
                  <a:srgbClr val="334155"/>
                </a:solidFill>
                <a:latin typeface="Segoe UI"/>
              </a:rPr>
              <a:t>현재 더 선호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4404270"/>
            <a:ext cx="20955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844" y="4404270"/>
            <a:ext cx="109537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Segoe UI"/>
              </a:rPr>
              <a:t>열교환기 통해 냉각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0300" y="2003970"/>
            <a:ext cx="5448300" cy="2886075"/>
          </a:xfrm>
          <a:prstGeom prst="roundRect">
            <a:avLst>
              <a:gd name="adj" fmla="val 1980"/>
            </a:avLst>
          </a:prstGeom>
          <a:solidFill>
            <a:srgbClr val="F8FAFC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7950" y="2251620"/>
            <a:ext cx="9334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200">
                <a:solidFill>
                  <a:srgbClr val="0EA5E9"/>
                </a:solidFill>
                <a:latin typeface="Segoe UI"/>
              </a:rPr>
              <a:t>Two Phase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5517" y="2261145"/>
            <a:ext cx="681632" cy="209550"/>
          </a:xfrm>
          <a:prstGeom prst="roundRect">
            <a:avLst>
              <a:gd name="adj" fmla="val 45454"/>
            </a:avLst>
          </a:prstGeom>
          <a:solidFill>
            <a:srgbClr val="E0F2FE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0369A1"/>
                </a:solidFill>
                <a:latin typeface="Segoe UI"/>
              </a:rPr>
              <a:t>최고 효율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57950" y="2613570"/>
            <a:ext cx="4953000" cy="1047750"/>
          </a:xfrm>
          <a:prstGeom prst="roundRect">
            <a:avLst>
              <a:gd name="adj" fmla="val 4545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2336" y="2885033"/>
            <a:ext cx="592782" cy="285750"/>
          </a:xfrm>
          <a:prstGeom prst="roundRect">
            <a:avLst>
              <a:gd name="adj" fmla="val 10000"/>
            </a:avLst>
          </a:prstGeom>
          <a:solidFill>
            <a:srgbClr val="0369A1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Liquid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6069" y="3066008"/>
            <a:ext cx="533400" cy="1238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700">
                <a:solidFill>
                  <a:srgbClr val="0369A1"/>
                </a:solidFill>
                <a:latin typeface="Segoe UI"/>
              </a:rPr>
              <a:t>기화열 흡수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1575" y="2885033"/>
            <a:ext cx="589805" cy="28575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Gas 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2330" y="3066008"/>
            <a:ext cx="266700" cy="1238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700">
                <a:solidFill>
                  <a:srgbClr val="0369A1"/>
                </a:solidFill>
                <a:latin typeface="Segoe UI"/>
              </a:rPr>
              <a:t>응축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9980" y="2885033"/>
            <a:ext cx="592782" cy="285750"/>
          </a:xfrm>
          <a:prstGeom prst="roundRect">
            <a:avLst>
              <a:gd name="adj" fmla="val 10000"/>
            </a:avLst>
          </a:prstGeom>
          <a:solidFill>
            <a:srgbClr val="0369A1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Liquid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0598" y="3266033"/>
            <a:ext cx="22288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0369A1"/>
                </a:solidFill>
                <a:latin typeface="Segoe UI"/>
              </a:rPr>
              <a:t>상변화(Liquid→Gas) 기화열 활용 — 냉각 효율 최고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7950" y="3794670"/>
            <a:ext cx="20955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0EA5E9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3744" y="3794670"/>
            <a:ext cx="166687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Segoe UI"/>
              </a:rPr>
              <a:t>기화열 활용 → 냉각 효율 최고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7950" y="4099470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F59E0B"/>
                </a:solidFill>
                <a:latin typeface="Segoe UI"/>
              </a:rPr>
              <a:t>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8123" y="4099470"/>
            <a:ext cx="1400175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94A3B8"/>
                </a:solidFill>
                <a:latin typeface="Segoe UI"/>
              </a:rPr>
              <a:t>시스템 복잡도·비용 높음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3400" y="5156745"/>
            <a:ext cx="11125200" cy="1790700"/>
          </a:xfrm>
          <a:prstGeom prst="roundRect">
            <a:avLst>
              <a:gd name="adj" fmla="val 3191"/>
            </a:avLst>
          </a:prstGeom>
          <a:gradFill>
            <a:gsLst>
              <a:gs pos="0">
                <a:srgbClr val="1E293B"/>
              </a:gs>
              <a:gs pos="100000">
                <a:srgbClr val="0F172A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100" y="5423445"/>
            <a:ext cx="76200" cy="76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1550" y="5366295"/>
            <a:ext cx="327679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E2E8F0"/>
                </a:solidFill>
                <a:latin typeface="Segoe UI"/>
              </a:rPr>
              <a:t>SKT PoC 결과 (~'23.10, GRC社) — Air Cooling 대비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" y="5690145"/>
            <a:ext cx="3429000" cy="762000"/>
          </a:xfrm>
          <a:prstGeom prst="roundRect">
            <a:avLst>
              <a:gd name="adj" fmla="val 6250"/>
            </a:avLst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975" y="5833020"/>
            <a:ext cx="3237547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2200">
                <a:solidFill>
                  <a:srgbClr val="818CF8"/>
                </a:solidFill>
                <a:latin typeface="Segoe UI"/>
              </a:rPr>
              <a:t>93%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975" y="6156870"/>
            <a:ext cx="3237547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CBD5E1"/>
                </a:solidFill>
                <a:latin typeface="Segoe UI"/>
              </a:rPr>
              <a:t>Cooling 전력 절감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1500" y="5690145"/>
            <a:ext cx="3429000" cy="762000"/>
          </a:xfrm>
          <a:prstGeom prst="roundRect">
            <a:avLst>
              <a:gd name="adj" fmla="val 6250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4375" y="5833020"/>
            <a:ext cx="3237547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2200">
                <a:solidFill>
                  <a:srgbClr val="38BDF8"/>
                </a:solidFill>
                <a:latin typeface="Segoe UI"/>
              </a:rPr>
              <a:t>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4375" y="6156870"/>
            <a:ext cx="3237547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CBD5E1"/>
                </a:solidFill>
                <a:latin typeface="Segoe UI"/>
              </a:rPr>
              <a:t>서버 전력 절감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62900" y="5690145"/>
            <a:ext cx="3429000" cy="762000"/>
          </a:xfrm>
          <a:prstGeom prst="roundRect">
            <a:avLst>
              <a:gd name="adj" fmla="val 6250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5775" y="5833020"/>
            <a:ext cx="3237547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2200">
                <a:solidFill>
                  <a:srgbClr val="34D399"/>
                </a:solidFill>
                <a:latin typeface="Segoe UI"/>
              </a:rPr>
              <a:t>37%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05775" y="6156870"/>
            <a:ext cx="3237547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CBD5E1"/>
                </a:solidFill>
                <a:latin typeface="Segoe UI"/>
              </a:rPr>
              <a:t>총 전력·탄소 배출 저감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" y="6585495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F59E0B"/>
                </a:solidFill>
                <a:latin typeface="Segoe UI"/>
              </a:rPr>
              <a:t>⚠</a:t>
            </a:r>
            <a:r>
              <a:rPr sz="800">
                <a:solidFill>
                  <a:srgbClr val="94A3B8"/>
                </a:solidFill>
                <a:latin typeface="Segoe UI"/>
              </a:rPr>
              <a:t> 서버 교체 시 리프트 필요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67979" y="6585495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F59E0B"/>
                </a:solidFill>
                <a:latin typeface="Segoe UI"/>
              </a:rPr>
              <a:t>⚠</a:t>
            </a:r>
            <a:r>
              <a:rPr sz="800">
                <a:solidFill>
                  <a:srgbClr val="94A3B8"/>
                </a:solidFill>
                <a:latin typeface="Segoe UI"/>
              </a:rPr>
              <a:t> Coolant 누출 위험 — 유지보수 비용 추가 고려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558105"/>
          </a:xfrm>
          <a:prstGeom prst="rect">
            <a:avLst/>
          </a:prstGeom>
          <a:noFill/>
          <a:ln w="635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3425" y="457200"/>
            <a:ext cx="1125293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0EA5E9"/>
                </a:solidFill>
                <a:latin typeface="Segoe UI"/>
              </a:rPr>
              <a:t>Slide 18 · Energy Supply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695325"/>
            <a:ext cx="1125293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1E293B"/>
                </a:solidFill>
                <a:latin typeface="Segoe UI"/>
              </a:rPr>
              <a:t>전력 수요 폭증과 대체 전력원의 필요성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2005"/>
            <a:ext cx="11478577" cy="455265"/>
          </a:xfrm>
          <a:prstGeom prst="roundRect">
            <a:avLst>
              <a:gd name="adj" fmla="val 8368"/>
            </a:avLst>
          </a:prstGeom>
          <a:solidFill>
            <a:srgbClr val="F1F5F9"/>
          </a:solidFill>
          <a:ln>
            <a:noFill/>
          </a:ln>
        </p:spPr>
        <p:txBody>
          <a:bodyPr wrap="square" anchor="ctr" lIns="152400" rIns="152400" tIns="114300" bIns="11430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핵심 메시지:</a:t>
            </a:r>
            <a:r>
              <a:rPr sz="1000">
                <a:solidFill>
                  <a:srgbClr val="475569"/>
                </a:solidFill>
                <a:latin typeface="Segoe UI"/>
              </a:rPr>
              <a:t> 전 세계 DC 전력 수요가 2000년 대비 2030년 </a:t>
            </a:r>
            <a:r>
              <a:rPr b="1" sz="1000">
                <a:solidFill>
                  <a:srgbClr val="475569"/>
                </a:solidFill>
                <a:latin typeface="Segoe UI"/>
              </a:rPr>
              <a:t>113배 증가</a:t>
            </a:r>
            <a:r>
              <a:rPr sz="1000">
                <a:solidFill>
                  <a:srgbClr val="475569"/>
                </a:solidFill>
                <a:latin typeface="Segoe UI"/>
              </a:rPr>
              <a:t>가 전망되는 가운데, Grid 전력만으로는 AI DC의 전력 수요를 충당할 수 없어 대체 전력원 확보가 필수적이다.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03970"/>
            <a:ext cx="6356300" cy="5158829"/>
          </a:xfrm>
          <a:prstGeom prst="roundRect">
            <a:avLst>
              <a:gd name="adj" fmla="val 1107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1525" y="2242095"/>
            <a:ext cx="6056451" cy="2000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>
                <a:solidFill>
                  <a:srgbClr val="1E293B"/>
                </a:solidFill>
                <a:latin typeface="Segoe UI"/>
              </a:rPr>
              <a:t>전 세계 DC 전력 수요 전망 (IEA)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7160" y="3604170"/>
            <a:ext cx="50482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64748B"/>
                </a:solidFill>
                <a:latin typeface="Segoe UI"/>
              </a:rPr>
              <a:t>70 TWh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7725" y="3813720"/>
            <a:ext cx="1820316" cy="95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4132" y="3966120"/>
            <a:ext cx="3619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2000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870" y="2832645"/>
            <a:ext cx="5619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4F46E5"/>
                </a:solidFill>
                <a:latin typeface="Segoe UI"/>
              </a:rPr>
              <a:t>520 TWh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01391" y="3042195"/>
            <a:ext cx="1820316" cy="6286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7799" y="3727995"/>
            <a:ext cx="3619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4F46E5"/>
                </a:solidFill>
                <a:latin typeface="Segoe UI"/>
              </a:rPr>
              <a:t>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0209" y="3937545"/>
            <a:ext cx="338732" cy="180975"/>
          </a:xfrm>
          <a:prstGeom prst="roundRect">
            <a:avLst>
              <a:gd name="adj" fmla="val 26315"/>
            </a:avLst>
          </a:prstGeom>
          <a:solidFill>
            <a:srgbClr val="EEF2FF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4F46E5"/>
                </a:solidFill>
                <a:latin typeface="Segoe UI"/>
              </a:rPr>
              <a:t>×7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2128" y="2118270"/>
            <a:ext cx="7239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DC2626"/>
                </a:solidFill>
                <a:latin typeface="Segoe UI"/>
              </a:rPr>
              <a:t>7,933 TWh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5058" y="2337345"/>
            <a:ext cx="1820316" cy="1333500"/>
          </a:xfrm>
          <a:prstGeom prst="rect">
            <a:avLst/>
          </a:prstGeom>
          <a:gradFill>
            <a:gsLst>
              <a:gs pos="0">
                <a:srgbClr val="DC2626"/>
              </a:gs>
              <a:gs pos="100000">
                <a:srgbClr val="F97316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2981" y="2127795"/>
            <a:ext cx="600521" cy="180975"/>
          </a:xfrm>
          <a:prstGeom prst="roundRect">
            <a:avLst>
              <a:gd name="adj" fmla="val 10526"/>
            </a:avLst>
          </a:prstGeom>
          <a:solidFill>
            <a:srgbClr val="DC2626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×113 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5896" y="3727995"/>
            <a:ext cx="4381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DC2626"/>
                </a:solidFill>
                <a:latin typeface="Segoe UI"/>
              </a:rPr>
              <a:t>2030F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6130" y="3937545"/>
            <a:ext cx="454372" cy="180975"/>
          </a:xfrm>
          <a:prstGeom prst="roundRect">
            <a:avLst>
              <a:gd name="adj" fmla="val 26315"/>
            </a:avLst>
          </a:prstGeom>
          <a:solidFill>
            <a:srgbClr val="FEF2F2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DC2626"/>
                </a:solidFill>
                <a:latin typeface="Segoe UI"/>
              </a:rPr>
              <a:t>×113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1525" y="4270920"/>
            <a:ext cx="5880050" cy="352425"/>
          </a:xfrm>
          <a:prstGeom prst="roundRect">
            <a:avLst>
              <a:gd name="adj" fmla="val 1081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475" y="4366170"/>
            <a:ext cx="3953732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DC2626"/>
                </a:solidFill>
                <a:latin typeface="Segoe UI"/>
              </a:rPr>
              <a:t>AI 가속화: ChatGPT 출시 이후 LLM 경쟁으로 AI DC 구축·전력 확보 경쟁 심화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18300" y="2003970"/>
            <a:ext cx="4540150" cy="3187154"/>
          </a:xfrm>
          <a:prstGeom prst="roundRect">
            <a:avLst>
              <a:gd name="adj" fmla="val 1793"/>
            </a:avLst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9275" y="2184945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1225" y="2232570"/>
            <a:ext cx="9334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C2410C"/>
                </a:solidFill>
                <a:latin typeface="Segoe UI"/>
              </a:rPr>
              <a:t>공급 제약 사례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9275" y="2584995"/>
            <a:ext cx="4303546" cy="476250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7C2D12"/>
                </a:solidFill>
                <a:latin typeface="Segoe UI"/>
              </a:rPr>
              <a:t>🇰🇷 한국 수도권</a:t>
            </a:r>
          </a:p>
          <a:p>
            <a:pPr algn="ctr"/>
            <a:r>
              <a:rPr sz="900">
                <a:solidFill>
                  <a:srgbClr val="7C2D12"/>
                </a:solidFill>
                <a:latin typeface="Segoe UI"/>
              </a:rPr>
              <a:t>DC 수전 신청 거부 ('23.3~)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9275" y="3194595"/>
            <a:ext cx="4303546" cy="476250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7C2D12"/>
                </a:solidFill>
                <a:latin typeface="Segoe UI"/>
              </a:rPr>
              <a:t>🇺🇸 미국 xAI DC</a:t>
            </a:r>
          </a:p>
          <a:p>
            <a:pPr algn="ctr"/>
            <a:r>
              <a:rPr sz="900">
                <a:solidFill>
                  <a:srgbClr val="7C2D12"/>
                </a:solidFill>
                <a:latin typeface="Segoe UI"/>
              </a:rPr>
              <a:t>전력 부족 사례 발생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18300" y="5343525"/>
            <a:ext cx="4540150" cy="1819275"/>
          </a:xfrm>
          <a:prstGeom prst="roundRect">
            <a:avLst>
              <a:gd name="adj" fmla="val 3141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99275" y="5524500"/>
            <a:ext cx="4303546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1E293B"/>
                </a:solidFill>
                <a:latin typeface="Segoe UI"/>
              </a:rPr>
              <a:t>DC 전력 배분 구조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9275" y="5819775"/>
            <a:ext cx="5238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334155"/>
                </a:solidFill>
                <a:latin typeface="Segoe UI"/>
              </a:rPr>
              <a:t>IT Infra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29950" y="5819775"/>
            <a:ext cx="5619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334155"/>
                </a:solidFill>
                <a:latin typeface="Segoe UI"/>
              </a:rPr>
              <a:t>50~60%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9275" y="6019800"/>
            <a:ext cx="4178200" cy="9525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9275" y="6019800"/>
            <a:ext cx="2297906" cy="9525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99275" y="6191250"/>
            <a:ext cx="6762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334155"/>
                </a:solidFill>
                <a:latin typeface="Segoe UI"/>
              </a:rPr>
              <a:t>냉각 시스템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29950" y="6191250"/>
            <a:ext cx="5619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334155"/>
                </a:solidFill>
                <a:latin typeface="Segoe UI"/>
              </a:rPr>
              <a:t>30~40%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99275" y="6391275"/>
            <a:ext cx="4178200" cy="9525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99275" y="6391275"/>
            <a:ext cx="1462236" cy="9525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99275" y="6600825"/>
            <a:ext cx="4303546" cy="381000"/>
          </a:xfrm>
          <a:prstGeom prst="roundRect">
            <a:avLst>
              <a:gd name="adj" fmla="val 7500"/>
            </a:avLst>
          </a:prstGeom>
          <a:solidFill>
            <a:srgbClr val="EEF2FF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>
                <a:solidFill>
                  <a:srgbClr val="4F46E5"/>
                </a:solidFill>
                <a:latin typeface="Segoe UI"/>
              </a:rPr>
              <a:t>⚡ AI DC 전환 시 냉각 비중 더 증가 예상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1060846"/>
          </a:xfrm>
          <a:prstGeom prst="rect">
            <a:avLst/>
          </a:prstGeom>
          <a:noFill/>
          <a:ln w="635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3425" y="457200"/>
            <a:ext cx="1125293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0EA5E9"/>
                </a:solidFill>
                <a:latin typeface="Segoe UI"/>
              </a:rPr>
              <a:t>Slide 19 · 대체 전력원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695325"/>
            <a:ext cx="1125293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1E293B"/>
                </a:solidFill>
                <a:latin typeface="Segoe UI"/>
              </a:rPr>
              <a:t>재생에너지 (태양광·풍력) 및 PPA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1091505"/>
            <a:ext cx="7495413" cy="426541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</a:rPr>
              <a:t>재생에너지는 RE100 탈탄소 규제와 급격한 발전 단가 하락으로 AI DC의 주요 대체 전력원으로 급성장하고 있으나, 간헐성 문제로 Grid 병행 운용이 필수적이다.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784746"/>
            <a:ext cx="5448300" cy="5378053"/>
          </a:xfrm>
          <a:prstGeom prst="roundRect">
            <a:avLst>
              <a:gd name="adj" fmla="val 1416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2051446"/>
            <a:ext cx="5062347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📉 균등화 발전 단가 하락 추이 ($/MWh)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41173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900">
                <a:solidFill>
                  <a:srgbClr val="64748B"/>
                </a:solidFill>
                <a:latin typeface="Segoe UI"/>
              </a:rPr>
              <a:t>2010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4450" y="3340298"/>
            <a:ext cx="4400550" cy="304800"/>
          </a:xfrm>
          <a:prstGeom prst="roundRect">
            <a:avLst>
              <a:gd name="adj" fmla="val 9375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4450" y="3340298"/>
            <a:ext cx="4552188" cy="304800"/>
          </a:xfrm>
          <a:prstGeom prst="roundRect">
            <a:avLst>
              <a:gd name="adj" fmla="val 9375"/>
            </a:avLst>
          </a:prstGeom>
          <a:gradFill>
            <a:gsLst>
              <a:gs pos="0">
                <a:srgbClr val="F59E0B"/>
              </a:gs>
              <a:gs pos="100000">
                <a:srgbClr val="FBBF24"/>
              </a:gs>
            </a:gsLst>
            <a:lin ang="0" scaled="0"/>
          </a:gradFill>
          <a:ln>
            <a:noFill/>
          </a:ln>
        </p:spPr>
        <p:txBody>
          <a:bodyPr wrap="square" anchor="ctr" lIns="95250" rIns="0" tIns="0" bIns="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$185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83083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900">
                <a:solidFill>
                  <a:srgbClr val="64748B"/>
                </a:solidFill>
                <a:latin typeface="Segoe UI"/>
              </a:rPr>
              <a:t>2023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14450" y="3759398"/>
            <a:ext cx="4400550" cy="304800"/>
          </a:xfrm>
          <a:prstGeom prst="roundRect">
            <a:avLst>
              <a:gd name="adj" fmla="val 9375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4450" y="3759398"/>
            <a:ext cx="1066800" cy="304800"/>
          </a:xfrm>
          <a:prstGeom prst="roundRect">
            <a:avLst>
              <a:gd name="adj" fmla="val 9375"/>
            </a:avLst>
          </a:prstGeom>
          <a:gradFill>
            <a:gsLst>
              <a:gs pos="0">
                <a:srgbClr val="10B981"/>
              </a:gs>
              <a:gs pos="100000">
                <a:srgbClr val="34D399"/>
              </a:gs>
            </a:gsLst>
            <a:lin ang="0" scaled="0"/>
          </a:gradFill>
          <a:ln>
            <a:noFill/>
          </a:ln>
        </p:spPr>
        <p:txBody>
          <a:bodyPr wrap="square" anchor="ctr" lIns="95250" rIns="0" tIns="0" bIns="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$40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178498"/>
            <a:ext cx="56197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2030</a:t>
            </a:r>
            <a:r>
              <a:rPr sz="700">
                <a:solidFill>
                  <a:srgbClr val="0EA5E9"/>
                </a:solidFill>
                <a:latin typeface="Segoe UI"/>
              </a:rPr>
              <a:t>전망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14450" y="4188023"/>
            <a:ext cx="4400550" cy="304800"/>
          </a:xfrm>
          <a:prstGeom prst="roundRect">
            <a:avLst>
              <a:gd name="adj" fmla="val 9375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14450" y="4188023"/>
            <a:ext cx="581025" cy="304800"/>
          </a:xfrm>
          <a:prstGeom prst="roundRect">
            <a:avLst>
              <a:gd name="adj" fmla="val 9375"/>
            </a:avLst>
          </a:prstGeom>
          <a:gradFill>
            <a:gsLst>
              <a:gs pos="0">
                <a:srgbClr val="4F46E5"/>
              </a:gs>
              <a:gs pos="100000">
                <a:srgbClr val="818CF8"/>
              </a:gs>
            </a:gsLst>
            <a:lin ang="0" scaled="0"/>
          </a:gradFill>
          <a:ln>
            <a:noFill/>
          </a:ln>
        </p:spPr>
        <p:txBody>
          <a:bodyPr wrap="square" anchor="ctr" lIns="95250" rIns="0" tIns="0" bIns="0">
            <a:spAutoFit/>
          </a:bodyPr>
          <a:lstStyle/>
          <a:p>
            <a:pPr algn="l"/>
            <a:r>
              <a:rPr b="1" sz="1000">
                <a:solidFill>
                  <a:srgbClr val="FFFFFF"/>
                </a:solidFill>
                <a:latin typeface="Segoe UI"/>
              </a:rPr>
              <a:t>$20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" y="4692848"/>
            <a:ext cx="4914900" cy="504825"/>
          </a:xfrm>
          <a:prstGeom prst="roundRect">
            <a:avLst>
              <a:gd name="adj" fmla="val 9433"/>
            </a:avLst>
          </a:prstGeom>
          <a:gradFill>
            <a:gsLst>
              <a:gs pos="0">
                <a:srgbClr val="EEF2FF"/>
              </a:gs>
              <a:gs pos="100000">
                <a:srgbClr val="E0F2FE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49214" y="4883348"/>
            <a:ext cx="13335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000">
                <a:solidFill>
                  <a:srgbClr val="4F46E5"/>
                </a:solidFill>
                <a:latin typeface="Segoe UI"/>
              </a:rPr>
              <a:t>2010 대비 2030 전망: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6926" y="4807148"/>
            <a:ext cx="781050" cy="2762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500">
                <a:solidFill>
                  <a:srgbClr val="0EA5E9"/>
                </a:solidFill>
                <a:latin typeface="Segoe UI"/>
              </a:rPr>
              <a:t>▼ 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2669" y="4892873"/>
            <a:ext cx="5715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>
                <a:solidFill>
                  <a:srgbClr val="64748B"/>
                </a:solidFill>
                <a:latin typeface="Segoe UI"/>
              </a:rPr>
              <a:t>단가 하락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" y="6305550"/>
            <a:ext cx="4914900" cy="590550"/>
          </a:xfrm>
          <a:prstGeom prst="roundRect">
            <a:avLst>
              <a:gd name="adj" fmla="val 8064"/>
            </a:avLst>
          </a:prstGeom>
          <a:solidFill>
            <a:srgbClr val="FEF3C7"/>
          </a:solidFill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550" y="6419850"/>
            <a:ext cx="4748403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92400E"/>
                </a:solidFill>
                <a:latin typeface="Segoe UI"/>
              </a:rPr>
              <a:t>☀️ 글로벌 추가 발전용량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6619875"/>
            <a:ext cx="4748403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78350F"/>
                </a:solidFill>
                <a:latin typeface="Segoe UI"/>
              </a:rPr>
              <a:t>'23년 태양광·풍력 중심 큰 폭 상승 — 연간 신규 설비 역대 최고치 경신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0300" y="1784746"/>
            <a:ext cx="5448300" cy="3806428"/>
          </a:xfrm>
          <a:prstGeom prst="roundRect">
            <a:avLst>
              <a:gd name="adj" fmla="val 200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8900" y="2013346"/>
            <a:ext cx="5140833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16A34A"/>
                </a:solidFill>
                <a:latin typeface="Segoe UI"/>
              </a:rPr>
              <a:t>⚡ PPA (전력구매계약) 개념도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38900" y="2327671"/>
            <a:ext cx="2230635" cy="819150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254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72250" y="2441971"/>
            <a:ext cx="2040135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/>
              </a:rPr>
              <a:t>☀️🌬️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2727721"/>
            <a:ext cx="2040135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16A34A"/>
                </a:solidFill>
                <a:latin typeface="Segoe UI"/>
              </a:rPr>
              <a:t>재생에너지</a:t>
            </a:r>
          </a:p>
          <a:p>
            <a:pPr algn="ctr"/>
            <a:r>
              <a:rPr sz="800">
                <a:solidFill>
                  <a:srgbClr val="16A34A"/>
                </a:solidFill>
                <a:latin typeface="Segoe UI"/>
              </a:rPr>
              <a:t>발전사업자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5735" y="2437209"/>
            <a:ext cx="4953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4F46E5"/>
                </a:solidFill>
                <a:latin typeface="Segoe UI"/>
              </a:rPr>
              <a:t>장기 계약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9051" y="2599134"/>
            <a:ext cx="304800" cy="2762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4F46E5"/>
                </a:solidFill>
                <a:latin typeface="Segoe U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45735" y="2894409"/>
            <a:ext cx="4953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고정 단가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99215" y="2327671"/>
            <a:ext cx="2230784" cy="819150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2565" y="2441971"/>
            <a:ext cx="2040284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/>
              </a:rPr>
              <a:t>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2565" y="2727721"/>
            <a:ext cx="2040284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4F46E5"/>
                </a:solidFill>
                <a:latin typeface="Segoe UI"/>
              </a:rPr>
              <a:t>빅테크</a:t>
            </a:r>
          </a:p>
          <a:p>
            <a:pPr algn="ctr"/>
            <a:r>
              <a:rPr sz="800">
                <a:solidFill>
                  <a:srgbClr val="4F46E5"/>
                </a:solidFill>
                <a:latin typeface="Segoe UI"/>
              </a:rPr>
              <a:t>AI 데이터센터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8900" y="3299221"/>
            <a:ext cx="5140833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800">
                <a:solidFill>
                  <a:srgbClr val="374151"/>
                </a:solidFill>
                <a:latin typeface="Segoe UI"/>
              </a:rPr>
              <a:t>PPA 주요 계약 기업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8900" y="3527821"/>
            <a:ext cx="880020" cy="247650"/>
          </a:xfrm>
          <a:prstGeom prst="roundRect">
            <a:avLst>
              <a:gd name="adj" fmla="val 38461"/>
            </a:avLst>
          </a:prstGeom>
          <a:solidFill>
            <a:srgbClr val="DBEAFE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1D4ED8"/>
                </a:solidFill>
                <a:latin typeface="Segoe UI"/>
              </a:rPr>
              <a:t>🛒 Amazon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9870" y="3527821"/>
            <a:ext cx="827633" cy="247650"/>
          </a:xfrm>
          <a:prstGeom prst="roundRect">
            <a:avLst>
              <a:gd name="adj" fmla="val 38461"/>
            </a:avLst>
          </a:prstGeom>
          <a:solidFill>
            <a:srgbClr val="D1FA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065F46"/>
                </a:solidFill>
                <a:latin typeface="Segoe UI"/>
              </a:rPr>
              <a:t>🔍 Google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8453" y="3527821"/>
            <a:ext cx="717500" cy="247650"/>
          </a:xfrm>
          <a:prstGeom prst="roundRect">
            <a:avLst>
              <a:gd name="adj" fmla="val 38461"/>
            </a:avLst>
          </a:prstGeom>
          <a:solidFill>
            <a:srgbClr val="EDE9FE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5B21B6"/>
                </a:solidFill>
                <a:latin typeface="Segoe UI"/>
              </a:rPr>
              <a:t>👤 Meta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6904" y="3527821"/>
            <a:ext cx="760958" cy="247650"/>
          </a:xfrm>
          <a:prstGeom prst="roundRect">
            <a:avLst>
              <a:gd name="adj" fmla="val 38461"/>
            </a:avLst>
          </a:prstGeom>
          <a:solidFill>
            <a:srgbClr val="FEF3C7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92400E"/>
                </a:solidFill>
                <a:latin typeface="Segoe UI"/>
              </a:rPr>
              <a:t>🍎 Apple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48812" y="3527821"/>
            <a:ext cx="950862" cy="247650"/>
          </a:xfrm>
          <a:prstGeom prst="roundRect">
            <a:avLst>
              <a:gd name="adj" fmla="val 38461"/>
            </a:avLst>
          </a:prstGeom>
          <a:solidFill>
            <a:srgbClr val="FCE7F3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9D174D"/>
                </a:solidFill>
                <a:latin typeface="Segoe UI"/>
              </a:rPr>
              <a:t>🪟 Microsoft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0300" y="5762625"/>
            <a:ext cx="5448300" cy="1400175"/>
          </a:xfrm>
          <a:prstGeom prst="roundRect">
            <a:avLst>
              <a:gd name="adj" fmla="val 5442"/>
            </a:avLst>
          </a:prstGeom>
          <a:solidFill>
            <a:srgbClr val="FFF1F2"/>
          </a:solidFill>
          <a:ln w="2540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9850" y="5972175"/>
            <a:ext cx="5180076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BE123C"/>
                </a:solidFill>
                <a:latin typeface="Segoe UI"/>
              </a:rPr>
              <a:t>⚠️ 핵심 한계 — Off-Grid 불가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19850" y="6248400"/>
            <a:ext cx="811262" cy="542925"/>
          </a:xfrm>
          <a:prstGeom prst="roundRect">
            <a:avLst>
              <a:gd name="adj" fmla="val 7017"/>
            </a:avLst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1156" y="6324600"/>
            <a:ext cx="7048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50,000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1156" y="6572250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Segoe UI"/>
              </a:rPr>
              <a:t>㎡ 필요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5412" y="6248400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1E293B"/>
                </a:solidFill>
                <a:latin typeface="Segoe UI"/>
              </a:rPr>
              <a:t>10MW DC 기준 태양광 패널 면적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45412" y="6448425"/>
            <a:ext cx="1676251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= 축구장 약 7개 규모</a:t>
            </a:r>
          </a:p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간헐성(야간·흐린날) 문제로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5412" y="6791325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BE123C"/>
                </a:solidFill>
                <a:latin typeface="Segoe UI"/>
              </a:rPr>
              <a:t>→ Grid 병행 운용 필수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57200"/>
            <a:ext cx="11125200" cy="1060846"/>
          </a:xfrm>
          <a:prstGeom prst="rect">
            <a:avLst/>
          </a:prstGeom>
          <a:noFill/>
          <a:ln w="635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3425" y="457200"/>
            <a:ext cx="1125293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0EA5E9"/>
                </a:solidFill>
                <a:latin typeface="Segoe UI"/>
              </a:rPr>
              <a:t>Slide 20 · 대체 전력원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695325"/>
            <a:ext cx="1125293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100">
                <a:solidFill>
                  <a:srgbClr val="1E293B"/>
                </a:solidFill>
                <a:latin typeface="Segoe UI"/>
              </a:rPr>
              <a:t>SMR — 소형 모듈형 원자로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1091505"/>
            <a:ext cx="7495413" cy="426541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4748B"/>
                </a:solidFill>
                <a:latin typeface="Segoe UI"/>
              </a:rPr>
              <a:t>SMR은 소형·모듈화·안전성 강화로 AI DC의 안정적 대용량 전력 공급원으로 주목받으며, 전 세계적으로 80여 종 개발이 진행 중이다.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784746"/>
            <a:ext cx="5448300" cy="1304925"/>
          </a:xfrm>
          <a:prstGeom prst="roundRect">
            <a:avLst>
              <a:gd name="adj" fmla="val 5839"/>
            </a:avLst>
          </a:prstGeom>
          <a:gradFill>
            <a:gsLst>
              <a:gs pos="0">
                <a:srgbClr val="EEF2FF"/>
              </a:gs>
              <a:gs pos="100000">
                <a:srgbClr val="E0F2FE"/>
              </a:gs>
            </a:gsLst>
            <a:lin ang="2700000" scaled="0"/>
          </a:gra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475" y="2003821"/>
            <a:ext cx="5160454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⚛️ SMR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2280046"/>
            <a:ext cx="5160454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Segoe UI"/>
              </a:rPr>
              <a:t>전기 출력 </a:t>
            </a:r>
            <a:r>
              <a:rPr sz="1400">
                <a:solidFill>
                  <a:srgbClr val="4F46E5"/>
                </a:solidFill>
                <a:latin typeface="Segoe UI"/>
              </a:rPr>
              <a:t>300MW 이하</a:t>
            </a:r>
            <a:r>
              <a:rPr sz="1000">
                <a:solidFill>
                  <a:srgbClr val="1E293B"/>
                </a:solidFill>
                <a:latin typeface="Segoe UI"/>
              </a:rPr>
              <a:t> 소형 모듈형 원자로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2603896"/>
            <a:ext cx="879871" cy="266700"/>
          </a:xfrm>
          <a:prstGeom prst="roundRect">
            <a:avLst>
              <a:gd name="adj" fmla="val 14285"/>
            </a:avLst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🏭 공장 생산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346" y="2603896"/>
            <a:ext cx="879871" cy="266700"/>
          </a:xfrm>
          <a:prstGeom prst="roundRect">
            <a:avLst>
              <a:gd name="adj" fmla="val 14285"/>
            </a:avLst>
          </a:prstGeom>
          <a:solidFill>
            <a:srgbClr val="0EA5E9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🔧 현장 조립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2218" y="2603896"/>
            <a:ext cx="754112" cy="266700"/>
          </a:xfrm>
          <a:prstGeom prst="roundRect">
            <a:avLst>
              <a:gd name="adj" fmla="val 14285"/>
            </a:avLst>
          </a:prstGeom>
          <a:solidFill>
            <a:srgbClr val="10B981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FFFFFF"/>
                </a:solidFill>
                <a:latin typeface="Segoe UI"/>
              </a:rPr>
              <a:t>🔄 모듈화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261121"/>
            <a:ext cx="5448300" cy="3952875"/>
          </a:xfrm>
          <a:prstGeom prst="roundRect">
            <a:avLst>
              <a:gd name="adj" fmla="val 1927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470671"/>
            <a:ext cx="5180076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📊 기존 원전 vs SMR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784996"/>
            <a:ext cx="1636662" cy="3143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Segoe UI"/>
              </a:rPr>
              <a:t>항목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3412" y="3784996"/>
            <a:ext cx="1657350" cy="3143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 anchor="ctr" lIns="95250" rIns="95250" tIns="76200" bIns="7620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Segoe UI"/>
              </a:rPr>
              <a:t>기존 대형 원전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3875" y="3784996"/>
            <a:ext cx="1984474" cy="3143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  <a:latin typeface="Segoe UI"/>
              </a:rPr>
              <a:t>SMR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2950" y="4099321"/>
            <a:ext cx="5029200" cy="3571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950" y="4099321"/>
            <a:ext cx="1695450" cy="357187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anchor="t" lIns="95250" rIns="95250" tIns="95250" bIns="95250">
            <a:spAutoFit/>
          </a:bodyPr>
          <a:lstStyle/>
          <a:p>
            <a:pPr algn="l"/>
            <a:r>
              <a:rPr sz="900">
                <a:solidFill>
                  <a:srgbClr val="374151"/>
                </a:solidFill>
                <a:latin typeface="Segoe UI"/>
              </a:rPr>
              <a:t>건설 기간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3544" y="4099321"/>
            <a:ext cx="1695450" cy="357187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anchor="t" lIns="95250" rIns="95250" tIns="95250" bIns="95250">
            <a:spAutoFit/>
          </a:bodyPr>
          <a:lstStyle/>
          <a:p>
            <a:pPr algn="ctr"/>
            <a:r>
              <a:rPr sz="900">
                <a:solidFill>
                  <a:srgbClr val="64748B"/>
                </a:solidFill>
                <a:latin typeface="Segoe UI"/>
              </a:rPr>
              <a:t>4년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1700" y="4099321"/>
            <a:ext cx="2047875" cy="357187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anchor="t" lIns="95250" rIns="95250" tIns="95250" bIns="95250">
            <a:spAutoFit/>
          </a:bodyPr>
          <a:lstStyle/>
          <a:p>
            <a:pPr algn="ctr"/>
            <a:r>
              <a:rPr b="1" sz="900">
                <a:solidFill>
                  <a:srgbClr val="4F46E5"/>
                </a:solidFill>
                <a:latin typeface="Segoe UI"/>
              </a:rPr>
              <a:t>2년 ▼50%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950" y="4456509"/>
            <a:ext cx="50292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950" y="4456509"/>
            <a:ext cx="1695450" cy="36195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anchor="t" lIns="95250" rIns="95250" tIns="95250" bIns="95250">
            <a:spAutoFit/>
          </a:bodyPr>
          <a:lstStyle/>
          <a:p>
            <a:pPr algn="l"/>
            <a:r>
              <a:rPr sz="900">
                <a:solidFill>
                  <a:srgbClr val="374151"/>
                </a:solidFill>
                <a:latin typeface="Segoe UI"/>
              </a:rPr>
              <a:t>건설 비용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3544" y="4456509"/>
            <a:ext cx="1695450" cy="36195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anchor="t" lIns="95250" rIns="95250" tIns="95250" bIns="95250">
            <a:spAutoFit/>
          </a:bodyPr>
          <a:lstStyle/>
          <a:p>
            <a:pPr algn="ctr"/>
            <a:r>
              <a:rPr sz="900">
                <a:solidFill>
                  <a:srgbClr val="64748B"/>
                </a:solidFill>
                <a:latin typeface="Segoe UI"/>
              </a:rPr>
              <a:t>5~10조원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1700" y="4456509"/>
            <a:ext cx="2047875" cy="36195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anchor="t" lIns="95250" rIns="95250" tIns="95250" bIns="95250">
            <a:spAutoFit/>
          </a:bodyPr>
          <a:lstStyle/>
          <a:p>
            <a:pPr algn="ctr"/>
            <a:r>
              <a:rPr b="1" sz="900">
                <a:solidFill>
                  <a:srgbClr val="4F46E5"/>
                </a:solidFill>
                <a:latin typeface="Segoe UI"/>
              </a:rPr>
              <a:t>~3,000억 ▼97%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2950" y="4818459"/>
            <a:ext cx="5029200" cy="3571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950" y="4818459"/>
            <a:ext cx="1695450" cy="357187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>
            <a:spAutoFit/>
          </a:bodyPr>
          <a:lstStyle/>
          <a:p>
            <a:pPr algn="l"/>
            <a:r>
              <a:rPr sz="900">
                <a:solidFill>
                  <a:srgbClr val="374151"/>
                </a:solidFill>
                <a:latin typeface="Segoe UI"/>
              </a:rPr>
              <a:t>대형 사고 확률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3544" y="4818459"/>
            <a:ext cx="1695450" cy="357187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>
            <a:spAutoFit/>
          </a:bodyPr>
          <a:lstStyle/>
          <a:p>
            <a:pPr algn="ctr"/>
            <a:r>
              <a:rPr sz="900">
                <a:solidFill>
                  <a:srgbClr val="64748B"/>
                </a:solidFill>
                <a:latin typeface="Segoe UI"/>
              </a:rPr>
              <a:t>기준치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1700" y="4818459"/>
            <a:ext cx="2047875" cy="357187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>
            <a:spAutoFit/>
          </a:bodyPr>
          <a:lstStyle/>
          <a:p>
            <a:pPr algn="ctr"/>
            <a:r>
              <a:rPr b="1" sz="900">
                <a:solidFill>
                  <a:srgbClr val="10B981"/>
                </a:solidFill>
                <a:latin typeface="Segoe UI"/>
              </a:rPr>
              <a:t>1/10,000배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0300" y="1784746"/>
            <a:ext cx="5448300" cy="2476500"/>
          </a:xfrm>
          <a:prstGeom prst="roundRect">
            <a:avLst>
              <a:gd name="adj" fmla="val 3076"/>
            </a:avLst>
          </a:prstGeom>
          <a:gradFill>
            <a:gsLst>
              <a:gs pos="0">
                <a:srgbClr val="1E293B"/>
              </a:gs>
              <a:gs pos="100000">
                <a:srgbClr val="334155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8900" y="2013346"/>
            <a:ext cx="5140833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>
                <a:solidFill>
                  <a:srgbClr val="94A3B8"/>
                </a:solidFill>
                <a:latin typeface="Segoe UI"/>
              </a:rPr>
              <a:t>🌍 글로벌 시장 전망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8900" y="2441971"/>
            <a:ext cx="5140833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Segoe UI"/>
              </a:rPr>
              <a:t>영국 원자력연구소 전망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8900" y="2661046"/>
            <a:ext cx="5140833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>
                <a:solidFill>
                  <a:srgbClr val="818CF8"/>
                </a:solidFill>
                <a:latin typeface="Segoe UI"/>
              </a:rPr>
              <a:t>620</a:t>
            </a:r>
            <a:r>
              <a:rPr sz="1800">
                <a:solidFill>
                  <a:srgbClr val="818CF8"/>
                </a:solidFill>
                <a:latin typeface="Segoe UI"/>
              </a:rPr>
              <a:t>조원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8900" y="3118246"/>
            <a:ext cx="5140833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CBD5E1"/>
                </a:solidFill>
                <a:latin typeface="Segoe UI"/>
              </a:rPr>
              <a:t>2035년 글로벌 SMR 시장 규모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6889" y="3575446"/>
            <a:ext cx="781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>
                <a:solidFill>
                  <a:srgbClr val="0EA5E9"/>
                </a:solidFill>
                <a:latin typeface="Segoe UI"/>
              </a:rPr>
              <a:t>80</a:t>
            </a:r>
            <a:r>
              <a:rPr sz="1000">
                <a:solidFill>
                  <a:srgbClr val="0EA5E9"/>
                </a:solidFill>
                <a:latin typeface="Segoe UI"/>
              </a:rPr>
              <a:t>여 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6889" y="3880246"/>
            <a:ext cx="7810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전 세계 개발 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14941" y="3575446"/>
            <a:ext cx="9525" cy="457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53351" y="3575446"/>
            <a:ext cx="1019175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>
                <a:solidFill>
                  <a:srgbClr val="34D399"/>
                </a:solidFill>
                <a:latin typeface="Segoe UI"/>
              </a:rPr>
              <a:t>300MW</a:t>
            </a:r>
            <a:r>
              <a:rPr sz="1000">
                <a:solidFill>
                  <a:srgbClr val="34D399"/>
                </a:solidFill>
                <a:latin typeface="Segoe UI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53351" y="3880246"/>
            <a:ext cx="10191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출력 기준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0300" y="4432696"/>
            <a:ext cx="5448300" cy="2781300"/>
          </a:xfrm>
          <a:prstGeom prst="roundRect">
            <a:avLst>
              <a:gd name="adj" fmla="val 2739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850" y="4642246"/>
            <a:ext cx="5180076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000">
                <a:solidFill>
                  <a:srgbClr val="4F46E5"/>
                </a:solidFill>
                <a:latin typeface="Segoe UI"/>
              </a:rPr>
              <a:t>🏗️ 주요 개발 현황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9850" y="4956571"/>
            <a:ext cx="5029200" cy="542925"/>
          </a:xfrm>
          <a:prstGeom prst="roundRect">
            <a:avLst>
              <a:gd name="adj" fmla="val 8771"/>
            </a:avLst>
          </a:prstGeom>
          <a:solidFill>
            <a:srgbClr val="FFFFFF"/>
          </a:solidFill>
          <a:ln w="508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72250" y="5089921"/>
            <a:ext cx="352425" cy="2762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1E293B"/>
                </a:solidFill>
                <a:latin typeface="Segoe UI"/>
              </a:rPr>
              <a:t>🇺🇸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24377" y="5070871"/>
            <a:ext cx="11715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1E293B"/>
                </a:solidFill>
                <a:latin typeface="Segoe UI"/>
              </a:rPr>
              <a:t>미국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24377" y="5232796"/>
            <a:ext cx="11715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NuScale · TerraPower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7030" y="5128021"/>
            <a:ext cx="403919" cy="200025"/>
          </a:xfrm>
          <a:prstGeom prst="roundRect">
            <a:avLst>
              <a:gd name="adj" fmla="val 14285"/>
            </a:avLst>
          </a:prstGeom>
          <a:solidFill>
            <a:srgbClr val="DBEAFE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1D4ED8"/>
                </a:solidFill>
                <a:latin typeface="Segoe UI"/>
              </a:rPr>
              <a:t>선도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19850" y="5594746"/>
            <a:ext cx="5029200" cy="542925"/>
          </a:xfrm>
          <a:prstGeom prst="roundRect">
            <a:avLst>
              <a:gd name="adj" fmla="val 8771"/>
            </a:avLst>
          </a:prstGeom>
          <a:solidFill>
            <a:srgbClr val="FFFFFF"/>
          </a:solidFill>
          <a:ln w="508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72250" y="5728096"/>
            <a:ext cx="352425" cy="2762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1E293B"/>
                </a:solidFill>
                <a:latin typeface="Segoe UI"/>
              </a:rPr>
              <a:t>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24377" y="5709046"/>
            <a:ext cx="15144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1E293B"/>
                </a:solidFill>
                <a:latin typeface="Segoe UI"/>
              </a:rPr>
              <a:t>글로벌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24377" y="5870971"/>
            <a:ext cx="1514475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Segoe UI"/>
              </a:rPr>
              <a:t>영국·캐나다·한국·중국 등 다수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19370" y="5766196"/>
            <a:ext cx="491579" cy="200025"/>
          </a:xfrm>
          <a:prstGeom prst="roundRect">
            <a:avLst>
              <a:gd name="adj" fmla="val 14285"/>
            </a:avLst>
          </a:prstGeom>
          <a:solidFill>
            <a:srgbClr val="D1FAE5"/>
          </a:solidFill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800">
                <a:solidFill>
                  <a:srgbClr val="065F46"/>
                </a:solidFill>
                <a:latin typeface="Segoe UI"/>
              </a:rPr>
              <a:t>진행중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19850" y="6290071"/>
            <a:ext cx="5029200" cy="714375"/>
          </a:xfrm>
          <a:prstGeom prst="roundRect">
            <a:avLst>
              <a:gd name="adj" fmla="val 6666"/>
            </a:avLst>
          </a:prstGeom>
          <a:gradFill>
            <a:gsLst>
              <a:gs pos="0">
                <a:srgbClr val="EEF2FF"/>
              </a:gs>
              <a:gs pos="100000">
                <a:srgbClr val="E0F2FE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4150" y="6494859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  <a:latin typeface="Segoe UI"/>
              </a:rPr>
              <a:t>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90891" y="6404371"/>
            <a:ext cx="15430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900">
                <a:solidFill>
                  <a:srgbClr val="4F46E5"/>
                </a:solidFill>
                <a:latin typeface="Segoe UI"/>
              </a:rPr>
              <a:t>AI DC 연계 핵심 이유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90891" y="6585346"/>
            <a:ext cx="1498848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>
                <a:solidFill>
                  <a:srgbClr val="475569"/>
                </a:solidFill>
                <a:latin typeface="Segoe UI"/>
              </a:rPr>
              <a:t>24/7 무탄소 안정 전력 공급 가능</a:t>
            </a:r>
          </a:p>
          <a:p>
            <a:pPr algn="l"/>
            <a:r>
              <a:rPr sz="800">
                <a:solidFill>
                  <a:srgbClr val="475569"/>
                </a:solidFill>
                <a:latin typeface="Segoe UI"/>
              </a:rPr>
              <a:t>소규모 부지 적용 · 모듈 확장성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